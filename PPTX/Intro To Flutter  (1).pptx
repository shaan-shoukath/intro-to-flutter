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Extenda 90 Exa" charset="1" panose="020B0003020200000002"/>
      <p:regular r:id="rId15"/>
    </p:embeddedFont>
    <p:embeddedFont>
      <p:font typeface="TT Fors Bold" charset="1" panose="020B0003030001020000"/>
      <p:regular r:id="rId16"/>
    </p:embeddedFont>
    <p:embeddedFont>
      <p:font typeface="TT Fors" charset="1" panose="020B000303000102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 Id="rId9" Target="https://github.com/Shaan-Shoukath/Intro-To-Flutter"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001115" y="-565425"/>
            <a:ext cx="4627956" cy="3862240"/>
          </a:xfrm>
          <a:custGeom>
            <a:avLst/>
            <a:gdLst/>
            <a:ahLst/>
            <a:cxnLst/>
            <a:rect r="r" b="b" t="t" l="l"/>
            <a:pathLst>
              <a:path h="3862240" w="4627956">
                <a:moveTo>
                  <a:pt x="0" y="0"/>
                </a:moveTo>
                <a:lnTo>
                  <a:pt x="4627956" y="0"/>
                </a:lnTo>
                <a:lnTo>
                  <a:pt x="4627956" y="3862239"/>
                </a:lnTo>
                <a:lnTo>
                  <a:pt x="0" y="38622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14662" y="-235831"/>
            <a:ext cx="21517324" cy="10758662"/>
            <a:chOff x="0" y="0"/>
            <a:chExt cx="28689765" cy="14344882"/>
          </a:xfrm>
        </p:grpSpPr>
        <p:sp>
          <p:nvSpPr>
            <p:cNvPr name="Freeform 4" id="4"/>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grpSp>
      <p:sp>
        <p:nvSpPr>
          <p:cNvPr name="TextBox 12" id="12"/>
          <p:cNvSpPr txBox="true"/>
          <p:nvPr/>
        </p:nvSpPr>
        <p:spPr>
          <a:xfrm rot="0">
            <a:off x="1968710" y="2701808"/>
            <a:ext cx="14398205" cy="6074009"/>
          </a:xfrm>
          <a:prstGeom prst="rect">
            <a:avLst/>
          </a:prstGeom>
        </p:spPr>
        <p:txBody>
          <a:bodyPr anchor="t" rtlCol="false" tIns="0" lIns="0" bIns="0" rIns="0">
            <a:spAutoFit/>
          </a:bodyPr>
          <a:lstStyle/>
          <a:p>
            <a:pPr algn="ctr">
              <a:lnSpc>
                <a:spcPts val="22387"/>
              </a:lnSpc>
            </a:pPr>
            <a:r>
              <a:rPr lang="en-US" sz="29074">
                <a:solidFill>
                  <a:srgbClr val="3A3E61"/>
                </a:solidFill>
                <a:latin typeface="Extenda 90 Exa"/>
                <a:ea typeface="Extenda 90 Exa"/>
                <a:cs typeface="Extenda 90 Exa"/>
                <a:sym typeface="Extenda 90 Exa"/>
              </a:rPr>
              <a:t>INTRO TO</a:t>
            </a:r>
          </a:p>
        </p:txBody>
      </p:sp>
      <p:grpSp>
        <p:nvGrpSpPr>
          <p:cNvPr name="Group 13" id="13"/>
          <p:cNvGrpSpPr/>
          <p:nvPr/>
        </p:nvGrpSpPr>
        <p:grpSpPr>
          <a:xfrm rot="-352086">
            <a:off x="5939289" y="7265874"/>
            <a:ext cx="6409422" cy="1394406"/>
            <a:chOff x="0" y="0"/>
            <a:chExt cx="1868028" cy="406400"/>
          </a:xfrm>
        </p:grpSpPr>
        <p:sp>
          <p:nvSpPr>
            <p:cNvPr name="Freeform 14" id="14"/>
            <p:cNvSpPr/>
            <p:nvPr/>
          </p:nvSpPr>
          <p:spPr>
            <a:xfrm flipH="false" flipV="false" rot="0">
              <a:off x="0" y="0"/>
              <a:ext cx="1868028" cy="406400"/>
            </a:xfrm>
            <a:custGeom>
              <a:avLst/>
              <a:gdLst/>
              <a:ahLst/>
              <a:cxnLst/>
              <a:rect r="r" b="b" t="t" l="l"/>
              <a:pathLst>
                <a:path h="406400" w="1868028">
                  <a:moveTo>
                    <a:pt x="1664828" y="0"/>
                  </a:moveTo>
                  <a:cubicBezTo>
                    <a:pt x="1777053" y="0"/>
                    <a:pt x="1868028" y="90976"/>
                    <a:pt x="1868028" y="203200"/>
                  </a:cubicBezTo>
                  <a:cubicBezTo>
                    <a:pt x="1868028" y="315424"/>
                    <a:pt x="1777053" y="406400"/>
                    <a:pt x="1664828"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5" id="15"/>
            <p:cNvSpPr txBox="true"/>
            <p:nvPr/>
          </p:nvSpPr>
          <p:spPr>
            <a:xfrm>
              <a:off x="0" y="-38100"/>
              <a:ext cx="1868028" cy="444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5066413" y="683012"/>
            <a:ext cx="2065807" cy="749445"/>
            <a:chOff x="0" y="0"/>
            <a:chExt cx="1120221" cy="406400"/>
          </a:xfrm>
        </p:grpSpPr>
        <p:sp>
          <p:nvSpPr>
            <p:cNvPr name="Freeform 17" id="17"/>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8" id="18"/>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sp>
        <p:nvSpPr>
          <p:cNvPr name="Freeform 19" id="19"/>
          <p:cNvSpPr/>
          <p:nvPr/>
        </p:nvSpPr>
        <p:spPr>
          <a:xfrm flipH="false" flipV="false" rot="0">
            <a:off x="14157104" y="4996579"/>
            <a:ext cx="1838981" cy="1765422"/>
          </a:xfrm>
          <a:custGeom>
            <a:avLst/>
            <a:gdLst/>
            <a:ahLst/>
            <a:cxnLst/>
            <a:rect r="r" b="b" t="t" l="l"/>
            <a:pathLst>
              <a:path h="1765422" w="1838981">
                <a:moveTo>
                  <a:pt x="0" y="0"/>
                </a:moveTo>
                <a:lnTo>
                  <a:pt x="1838980" y="0"/>
                </a:lnTo>
                <a:lnTo>
                  <a:pt x="1838980" y="1765422"/>
                </a:lnTo>
                <a:lnTo>
                  <a:pt x="0" y="17654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921085" y="1977223"/>
            <a:ext cx="1322898" cy="1418312"/>
          </a:xfrm>
          <a:custGeom>
            <a:avLst/>
            <a:gdLst/>
            <a:ahLst/>
            <a:cxnLst/>
            <a:rect r="r" b="b" t="t" l="l"/>
            <a:pathLst>
              <a:path h="1418312" w="1322898">
                <a:moveTo>
                  <a:pt x="0" y="0"/>
                </a:moveTo>
                <a:lnTo>
                  <a:pt x="1322898" y="0"/>
                </a:lnTo>
                <a:lnTo>
                  <a:pt x="1322898" y="1418312"/>
                </a:lnTo>
                <a:lnTo>
                  <a:pt x="0" y="14183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1" id="21"/>
          <p:cNvSpPr txBox="true"/>
          <p:nvPr/>
        </p:nvSpPr>
        <p:spPr>
          <a:xfrm rot="-352086">
            <a:off x="6365148" y="7791733"/>
            <a:ext cx="5606099" cy="699335"/>
          </a:xfrm>
          <a:prstGeom prst="rect">
            <a:avLst/>
          </a:prstGeom>
        </p:spPr>
        <p:txBody>
          <a:bodyPr anchor="t" rtlCol="false" tIns="0" lIns="0" bIns="0" rIns="0">
            <a:spAutoFit/>
          </a:bodyPr>
          <a:lstStyle/>
          <a:p>
            <a:pPr algn="ctr">
              <a:lnSpc>
                <a:spcPts val="4578"/>
              </a:lnSpc>
            </a:pPr>
            <a:r>
              <a:rPr lang="en-US" sz="7154" b="true">
                <a:solidFill>
                  <a:srgbClr val="FFFFFF"/>
                </a:solidFill>
                <a:latin typeface="TT Fors Bold"/>
                <a:ea typeface="TT Fors Bold"/>
                <a:cs typeface="TT Fors Bold"/>
                <a:sym typeface="TT Fors Bold"/>
              </a:rPr>
              <a:t>FLUTTER</a:t>
            </a:r>
          </a:p>
        </p:txBody>
      </p:sp>
      <p:sp>
        <p:nvSpPr>
          <p:cNvPr name="TextBox 22" id="22"/>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23" id="23"/>
          <p:cNvGrpSpPr/>
          <p:nvPr/>
        </p:nvGrpSpPr>
        <p:grpSpPr>
          <a:xfrm rot="0">
            <a:off x="16543936" y="646641"/>
            <a:ext cx="822187" cy="82218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01</a:t>
            </a:r>
          </a:p>
        </p:txBody>
      </p:sp>
      <p:sp>
        <p:nvSpPr>
          <p:cNvPr name="TextBox 27" id="27"/>
          <p:cNvSpPr txBox="true"/>
          <p:nvPr/>
        </p:nvSpPr>
        <p:spPr>
          <a:xfrm rot="0">
            <a:off x="1028700" y="9098572"/>
            <a:ext cx="5275460" cy="410718"/>
          </a:xfrm>
          <a:prstGeom prst="rect">
            <a:avLst/>
          </a:prstGeom>
        </p:spPr>
        <p:txBody>
          <a:bodyPr anchor="t" rtlCol="false" tIns="0" lIns="0" bIns="0" rIns="0">
            <a:spAutoFit/>
          </a:bodyPr>
          <a:lstStyle/>
          <a:p>
            <a:pPr algn="l">
              <a:lnSpc>
                <a:spcPts val="3275"/>
              </a:lnSpc>
            </a:pPr>
            <a:r>
              <a:rPr lang="en-US" sz="2799" b="true">
                <a:solidFill>
                  <a:srgbClr val="3A3E61"/>
                </a:solidFill>
                <a:latin typeface="TT Fors Bold"/>
                <a:ea typeface="TT Fors Bold"/>
                <a:cs typeface="TT Fors Bold"/>
                <a:sym typeface="TT Fors Bold"/>
              </a:rPr>
              <a:t>github.com/Shaan-Shoukath</a:t>
            </a:r>
          </a:p>
        </p:txBody>
      </p:sp>
      <p:sp>
        <p:nvSpPr>
          <p:cNvPr name="TextBox 28" id="28"/>
          <p:cNvSpPr txBox="true"/>
          <p:nvPr/>
        </p:nvSpPr>
        <p:spPr>
          <a:xfrm rot="0">
            <a:off x="11538792" y="9098572"/>
            <a:ext cx="5720508" cy="410718"/>
          </a:xfrm>
          <a:prstGeom prst="rect">
            <a:avLst/>
          </a:prstGeom>
        </p:spPr>
        <p:txBody>
          <a:bodyPr anchor="t" rtlCol="false" tIns="0" lIns="0" bIns="0" rIns="0">
            <a:spAutoFit/>
          </a:bodyPr>
          <a:lstStyle/>
          <a:p>
            <a:pPr algn="r">
              <a:lnSpc>
                <a:spcPts val="3275"/>
              </a:lnSpc>
            </a:pPr>
            <a:r>
              <a:rPr lang="en-US" sz="2799" b="true">
                <a:solidFill>
                  <a:srgbClr val="3A3E61"/>
                </a:solidFill>
                <a:latin typeface="TT Fors Bold"/>
                <a:ea typeface="TT Fors Bold"/>
                <a:cs typeface="TT Fors Bold"/>
                <a:sym typeface="TT Fors Bold"/>
              </a:rPr>
              <a:t>Presented by Shaan Shoukath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524132" y="2018413"/>
            <a:ext cx="6728310" cy="6578915"/>
            <a:chOff x="0" y="0"/>
            <a:chExt cx="13576768" cy="13275310"/>
          </a:xfrm>
        </p:grpSpPr>
        <p:sp>
          <p:nvSpPr>
            <p:cNvPr name="Freeform 15" id="15"/>
            <p:cNvSpPr/>
            <p:nvPr/>
          </p:nvSpPr>
          <p:spPr>
            <a:xfrm flipH="false" flipV="false" rot="0">
              <a:off x="0" y="0"/>
              <a:ext cx="13576767" cy="13275311"/>
            </a:xfrm>
            <a:custGeom>
              <a:avLst/>
              <a:gdLst/>
              <a:ahLst/>
              <a:cxnLst/>
              <a:rect r="r" b="b" t="t" l="l"/>
              <a:pathLst>
                <a:path h="13275311" w="13576767">
                  <a:moveTo>
                    <a:pt x="8160711" y="0"/>
                  </a:moveTo>
                  <a:lnTo>
                    <a:pt x="13576767" y="0"/>
                  </a:lnTo>
                  <a:lnTo>
                    <a:pt x="13576767" y="13275311"/>
                  </a:lnTo>
                  <a:lnTo>
                    <a:pt x="0" y="13275311"/>
                  </a:lnTo>
                  <a:lnTo>
                    <a:pt x="0" y="6649720"/>
                  </a:lnTo>
                  <a:cubicBezTo>
                    <a:pt x="0" y="2976880"/>
                    <a:pt x="3653305" y="0"/>
                    <a:pt x="8160711" y="0"/>
                  </a:cubicBezTo>
                  <a:close/>
                </a:path>
              </a:pathLst>
            </a:custGeom>
            <a:blipFill>
              <a:blip r:embed="rId4"/>
              <a:stretch>
                <a:fillRect l="-23243" t="0" r="-23243" b="0"/>
              </a:stretch>
            </a:blipFill>
          </p:spPr>
        </p:sp>
      </p:grpSp>
      <p:sp>
        <p:nvSpPr>
          <p:cNvPr name="Freeform 16" id="16"/>
          <p:cNvSpPr/>
          <p:nvPr/>
        </p:nvSpPr>
        <p:spPr>
          <a:xfrm flipH="false" flipV="false" rot="0">
            <a:off x="9343852" y="3128853"/>
            <a:ext cx="2360560" cy="2291889"/>
          </a:xfrm>
          <a:custGeom>
            <a:avLst/>
            <a:gdLst/>
            <a:ahLst/>
            <a:cxnLst/>
            <a:rect r="r" b="b" t="t" l="l"/>
            <a:pathLst>
              <a:path h="2291889" w="2360560">
                <a:moveTo>
                  <a:pt x="0" y="0"/>
                </a:moveTo>
                <a:lnTo>
                  <a:pt x="2360561" y="0"/>
                </a:lnTo>
                <a:lnTo>
                  <a:pt x="2360561" y="2291890"/>
                </a:lnTo>
                <a:lnTo>
                  <a:pt x="0" y="229189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7" id="17"/>
          <p:cNvGrpSpPr/>
          <p:nvPr/>
        </p:nvGrpSpPr>
        <p:grpSpPr>
          <a:xfrm rot="0">
            <a:off x="16543936" y="646641"/>
            <a:ext cx="822187" cy="82218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028700" y="1897453"/>
            <a:ext cx="8826231" cy="3738669"/>
          </a:xfrm>
          <a:prstGeom prst="rect">
            <a:avLst/>
          </a:prstGeom>
        </p:spPr>
        <p:txBody>
          <a:bodyPr anchor="t" rtlCol="false" tIns="0" lIns="0" bIns="0" rIns="0">
            <a:spAutoFit/>
          </a:bodyPr>
          <a:lstStyle/>
          <a:p>
            <a:pPr algn="l">
              <a:lnSpc>
                <a:spcPts val="9406"/>
              </a:lnSpc>
            </a:pPr>
            <a:r>
              <a:rPr lang="en-US" sz="11758">
                <a:solidFill>
                  <a:srgbClr val="3A3E61"/>
                </a:solidFill>
                <a:latin typeface="Extenda 90 Exa"/>
                <a:ea typeface="Extenda 90 Exa"/>
                <a:cs typeface="Extenda 90 Exa"/>
                <a:sym typeface="Extenda 90 Exa"/>
              </a:rPr>
              <a:t>So… What Even Is Flutter?</a:t>
            </a:r>
          </a:p>
        </p:txBody>
      </p:sp>
      <p:sp>
        <p:nvSpPr>
          <p:cNvPr name="TextBox 21" id="21"/>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22" id="22"/>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02</a:t>
            </a:r>
          </a:p>
        </p:txBody>
      </p:sp>
      <p:sp>
        <p:nvSpPr>
          <p:cNvPr name="TextBox 23" id="23"/>
          <p:cNvSpPr txBox="true"/>
          <p:nvPr/>
        </p:nvSpPr>
        <p:spPr>
          <a:xfrm rot="0">
            <a:off x="808310" y="5904474"/>
            <a:ext cx="8658118" cy="1899475"/>
          </a:xfrm>
          <a:prstGeom prst="rect">
            <a:avLst/>
          </a:prstGeom>
        </p:spPr>
        <p:txBody>
          <a:bodyPr anchor="t" rtlCol="false" tIns="0" lIns="0" bIns="0" rIns="0">
            <a:spAutoFit/>
          </a:bodyPr>
          <a:lstStyle/>
          <a:p>
            <a:pPr algn="just" marL="626106" indent="-313053" lvl="1">
              <a:lnSpc>
                <a:spcPts val="3392"/>
              </a:lnSpc>
              <a:buFont typeface="Arial"/>
              <a:buChar char="•"/>
            </a:pPr>
            <a:r>
              <a:rPr lang="en-US" sz="2899">
                <a:solidFill>
                  <a:srgbClr val="3A3E61"/>
                </a:solidFill>
                <a:latin typeface="TT Fors"/>
                <a:ea typeface="TT Fors"/>
                <a:cs typeface="TT Fors"/>
                <a:sym typeface="TT Fors"/>
              </a:rPr>
              <a:t>Open-source UI framework by Google</a:t>
            </a:r>
          </a:p>
          <a:p>
            <a:pPr algn="just" marL="626106" indent="-313053" lvl="1">
              <a:lnSpc>
                <a:spcPts val="3392"/>
              </a:lnSpc>
              <a:buFont typeface="Arial"/>
              <a:buChar char="•"/>
            </a:pPr>
            <a:r>
              <a:rPr lang="en-US" sz="2899">
                <a:solidFill>
                  <a:srgbClr val="3A3E61"/>
                </a:solidFill>
                <a:latin typeface="TT Fors"/>
                <a:ea typeface="TT Fors"/>
                <a:cs typeface="TT Fors"/>
                <a:sym typeface="TT Fors"/>
              </a:rPr>
              <a:t>Used to build mobile, web, and desktop apps</a:t>
            </a:r>
          </a:p>
          <a:p>
            <a:pPr algn="just" marL="626106" indent="-313053" lvl="1">
              <a:lnSpc>
                <a:spcPts val="3392"/>
              </a:lnSpc>
              <a:buFont typeface="Arial"/>
              <a:buChar char="•"/>
            </a:pPr>
            <a:r>
              <a:rPr lang="en-US" sz="2899">
                <a:solidFill>
                  <a:srgbClr val="3A3E61"/>
                </a:solidFill>
                <a:latin typeface="TT Fors"/>
                <a:ea typeface="TT Fors"/>
                <a:cs typeface="TT Fors"/>
                <a:sym typeface="TT Fors"/>
              </a:rPr>
              <a:t>Single codebase for multiple platforms</a:t>
            </a:r>
          </a:p>
          <a:p>
            <a:pPr algn="just">
              <a:lnSpc>
                <a:spcPts val="4913"/>
              </a:lnSpc>
            </a:pPr>
          </a:p>
        </p:txBody>
      </p:sp>
      <p:sp>
        <p:nvSpPr>
          <p:cNvPr name="Freeform 24" id="24"/>
          <p:cNvSpPr/>
          <p:nvPr/>
        </p:nvSpPr>
        <p:spPr>
          <a:xfrm flipH="false" flipV="false" rot="0">
            <a:off x="-580245" y="8051599"/>
            <a:ext cx="4627956" cy="3862240"/>
          </a:xfrm>
          <a:custGeom>
            <a:avLst/>
            <a:gdLst/>
            <a:ahLst/>
            <a:cxnLst/>
            <a:rect r="r" b="b" t="t" l="l"/>
            <a:pathLst>
              <a:path h="3862240" w="4627956">
                <a:moveTo>
                  <a:pt x="0" y="0"/>
                </a:moveTo>
                <a:lnTo>
                  <a:pt x="4627956" y="0"/>
                </a:lnTo>
                <a:lnTo>
                  <a:pt x="4627956" y="3862240"/>
                </a:lnTo>
                <a:lnTo>
                  <a:pt x="0" y="386224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946900" y="3213837"/>
            <a:ext cx="14394200" cy="2543183"/>
            <a:chOff x="0" y="0"/>
            <a:chExt cx="3791065" cy="669810"/>
          </a:xfrm>
        </p:grpSpPr>
        <p:sp>
          <p:nvSpPr>
            <p:cNvPr name="Freeform 15" id="15"/>
            <p:cNvSpPr/>
            <p:nvPr/>
          </p:nvSpPr>
          <p:spPr>
            <a:xfrm flipH="false" flipV="false" rot="0">
              <a:off x="0" y="0"/>
              <a:ext cx="3791065" cy="669810"/>
            </a:xfrm>
            <a:custGeom>
              <a:avLst/>
              <a:gdLst/>
              <a:ahLst/>
              <a:cxnLst/>
              <a:rect r="r" b="b" t="t" l="l"/>
              <a:pathLst>
                <a:path h="669810" w="3791065">
                  <a:moveTo>
                    <a:pt x="27430" y="0"/>
                  </a:moveTo>
                  <a:lnTo>
                    <a:pt x="3763635" y="0"/>
                  </a:lnTo>
                  <a:cubicBezTo>
                    <a:pt x="3778784" y="0"/>
                    <a:pt x="3791065" y="12281"/>
                    <a:pt x="3791065" y="27430"/>
                  </a:cubicBezTo>
                  <a:lnTo>
                    <a:pt x="3791065" y="642379"/>
                  </a:lnTo>
                  <a:cubicBezTo>
                    <a:pt x="3791065" y="649654"/>
                    <a:pt x="3788175" y="656631"/>
                    <a:pt x="3783031" y="661775"/>
                  </a:cubicBezTo>
                  <a:cubicBezTo>
                    <a:pt x="3777887" y="666920"/>
                    <a:pt x="3770910" y="669810"/>
                    <a:pt x="3763635" y="669810"/>
                  </a:cubicBezTo>
                  <a:lnTo>
                    <a:pt x="27430" y="669810"/>
                  </a:lnTo>
                  <a:cubicBezTo>
                    <a:pt x="12281" y="669810"/>
                    <a:pt x="0" y="657529"/>
                    <a:pt x="0" y="642379"/>
                  </a:cubicBezTo>
                  <a:lnTo>
                    <a:pt x="0" y="27430"/>
                  </a:lnTo>
                  <a:cubicBezTo>
                    <a:pt x="0" y="12281"/>
                    <a:pt x="12281" y="0"/>
                    <a:pt x="27430" y="0"/>
                  </a:cubicBezTo>
                  <a:close/>
                </a:path>
              </a:pathLst>
            </a:custGeom>
            <a:solidFill>
              <a:srgbClr val="343434"/>
            </a:solidFill>
            <a:ln cap="rnd">
              <a:noFill/>
              <a:prstDash val="solid"/>
              <a:round/>
            </a:ln>
          </p:spPr>
        </p:sp>
        <p:sp>
          <p:nvSpPr>
            <p:cNvPr name="TextBox 16" id="16"/>
            <p:cNvSpPr txBox="true"/>
            <p:nvPr/>
          </p:nvSpPr>
          <p:spPr>
            <a:xfrm>
              <a:off x="0" y="-38100"/>
              <a:ext cx="3791065" cy="70791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74331" y="1840332"/>
            <a:ext cx="15498180" cy="1087755"/>
          </a:xfrm>
          <a:prstGeom prst="rect">
            <a:avLst/>
          </a:prstGeom>
        </p:spPr>
        <p:txBody>
          <a:bodyPr anchor="t" rtlCol="false" tIns="0" lIns="0" bIns="0" rIns="0">
            <a:spAutoFit/>
          </a:bodyPr>
          <a:lstStyle/>
          <a:p>
            <a:pPr algn="ctr">
              <a:lnSpc>
                <a:spcPts val="7680"/>
              </a:lnSpc>
            </a:pPr>
            <a:r>
              <a:rPr lang="en-US" sz="9600">
                <a:solidFill>
                  <a:srgbClr val="3A3E61"/>
                </a:solidFill>
                <a:latin typeface="Extenda 90 Exa"/>
                <a:ea typeface="Extenda 90 Exa"/>
                <a:cs typeface="Extenda 90 Exa"/>
                <a:sym typeface="Extenda 90 Exa"/>
              </a:rPr>
              <a:t>Wait… What’s Dart?</a:t>
            </a:r>
          </a:p>
        </p:txBody>
      </p:sp>
      <p:sp>
        <p:nvSpPr>
          <p:cNvPr name="TextBox 18" id="18"/>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19" id="19"/>
          <p:cNvGrpSpPr/>
          <p:nvPr/>
        </p:nvGrpSpPr>
        <p:grpSpPr>
          <a:xfrm rot="0">
            <a:off x="16543936" y="646641"/>
            <a:ext cx="822187" cy="82218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03</a:t>
            </a:r>
          </a:p>
        </p:txBody>
      </p:sp>
      <p:sp>
        <p:nvSpPr>
          <p:cNvPr name="TextBox 23" id="23"/>
          <p:cNvSpPr txBox="true"/>
          <p:nvPr/>
        </p:nvSpPr>
        <p:spPr>
          <a:xfrm rot="0">
            <a:off x="2862836" y="3666659"/>
            <a:ext cx="12562327" cy="1656588"/>
          </a:xfrm>
          <a:prstGeom prst="rect">
            <a:avLst/>
          </a:prstGeom>
        </p:spPr>
        <p:txBody>
          <a:bodyPr anchor="t" rtlCol="false" tIns="0" lIns="0" bIns="0" rIns="0">
            <a:spAutoFit/>
          </a:bodyPr>
          <a:lstStyle/>
          <a:p>
            <a:pPr algn="l" marL="496569" indent="-248284" lvl="1">
              <a:lnSpc>
                <a:spcPts val="2690"/>
              </a:lnSpc>
              <a:buFont typeface="Arial"/>
              <a:buChar char="•"/>
            </a:pPr>
            <a:r>
              <a:rPr lang="en-US" sz="2299">
                <a:solidFill>
                  <a:srgbClr val="F1EDE2"/>
                </a:solidFill>
                <a:latin typeface="TT Fors"/>
                <a:ea typeface="TT Fors"/>
                <a:cs typeface="TT Fors"/>
                <a:sym typeface="TT Fors"/>
              </a:rPr>
              <a:t>P</a:t>
            </a:r>
            <a:r>
              <a:rPr lang="en-US" sz="2299">
                <a:solidFill>
                  <a:srgbClr val="F1EDE2"/>
                </a:solidFill>
                <a:latin typeface="TT Fors"/>
                <a:ea typeface="TT Fors"/>
                <a:cs typeface="TT Fors"/>
                <a:sym typeface="TT Fors"/>
              </a:rPr>
              <a:t>rogramming language used by Flutter</a:t>
            </a:r>
          </a:p>
          <a:p>
            <a:pPr algn="l" marL="496569" indent="-248284" lvl="1">
              <a:lnSpc>
                <a:spcPts val="2690"/>
              </a:lnSpc>
              <a:buFont typeface="Arial"/>
              <a:buChar char="•"/>
            </a:pPr>
            <a:r>
              <a:rPr lang="en-US" sz="2299">
                <a:solidFill>
                  <a:srgbClr val="F1EDE2"/>
                </a:solidFill>
                <a:latin typeface="TT Fors"/>
                <a:ea typeface="TT Fors"/>
                <a:cs typeface="TT Fors"/>
                <a:sym typeface="TT Fors"/>
              </a:rPr>
              <a:t>Simple and easy to read</a:t>
            </a:r>
          </a:p>
          <a:p>
            <a:pPr algn="l" marL="496569" indent="-248284" lvl="1">
              <a:lnSpc>
                <a:spcPts val="2690"/>
              </a:lnSpc>
              <a:buFont typeface="Arial"/>
              <a:buChar char="•"/>
            </a:pPr>
            <a:r>
              <a:rPr lang="en-US" sz="2299">
                <a:solidFill>
                  <a:srgbClr val="F1EDE2"/>
                </a:solidFill>
                <a:latin typeface="TT Fors"/>
                <a:ea typeface="TT Fors"/>
                <a:cs typeface="TT Fors"/>
                <a:sym typeface="TT Fors"/>
              </a:rPr>
              <a:t>Beginner-friendly</a:t>
            </a:r>
          </a:p>
          <a:p>
            <a:pPr algn="l" marL="496569" indent="-248284" lvl="1">
              <a:lnSpc>
                <a:spcPts val="2690"/>
              </a:lnSpc>
              <a:buFont typeface="Arial"/>
              <a:buChar char="•"/>
            </a:pPr>
            <a:r>
              <a:rPr lang="en-US" sz="2299">
                <a:solidFill>
                  <a:srgbClr val="F1EDE2"/>
                </a:solidFill>
                <a:latin typeface="TT Fors"/>
                <a:ea typeface="TT Fors"/>
                <a:cs typeface="TT Fors"/>
                <a:sym typeface="TT Fors"/>
              </a:rPr>
              <a:t>Only basic Dart needed to build apps</a:t>
            </a:r>
          </a:p>
          <a:p>
            <a:pPr algn="ctr">
              <a:lnSpc>
                <a:spcPts val="2690"/>
              </a:lnSpc>
            </a:pPr>
          </a:p>
        </p:txBody>
      </p:sp>
      <p:grpSp>
        <p:nvGrpSpPr>
          <p:cNvPr name="Group 24" id="24"/>
          <p:cNvGrpSpPr/>
          <p:nvPr/>
        </p:nvGrpSpPr>
        <p:grpSpPr>
          <a:xfrm rot="0">
            <a:off x="1946900" y="6042420"/>
            <a:ext cx="14394200" cy="2543183"/>
            <a:chOff x="0" y="0"/>
            <a:chExt cx="3791065" cy="669810"/>
          </a:xfrm>
        </p:grpSpPr>
        <p:sp>
          <p:nvSpPr>
            <p:cNvPr name="Freeform 25" id="25"/>
            <p:cNvSpPr/>
            <p:nvPr/>
          </p:nvSpPr>
          <p:spPr>
            <a:xfrm flipH="false" flipV="false" rot="0">
              <a:off x="0" y="0"/>
              <a:ext cx="3791065" cy="669810"/>
            </a:xfrm>
            <a:custGeom>
              <a:avLst/>
              <a:gdLst/>
              <a:ahLst/>
              <a:cxnLst/>
              <a:rect r="r" b="b" t="t" l="l"/>
              <a:pathLst>
                <a:path h="669810" w="3791065">
                  <a:moveTo>
                    <a:pt x="27430" y="0"/>
                  </a:moveTo>
                  <a:lnTo>
                    <a:pt x="3763635" y="0"/>
                  </a:lnTo>
                  <a:cubicBezTo>
                    <a:pt x="3778784" y="0"/>
                    <a:pt x="3791065" y="12281"/>
                    <a:pt x="3791065" y="27430"/>
                  </a:cubicBezTo>
                  <a:lnTo>
                    <a:pt x="3791065" y="642379"/>
                  </a:lnTo>
                  <a:cubicBezTo>
                    <a:pt x="3791065" y="649654"/>
                    <a:pt x="3788175" y="656631"/>
                    <a:pt x="3783031" y="661775"/>
                  </a:cubicBezTo>
                  <a:cubicBezTo>
                    <a:pt x="3777887" y="666920"/>
                    <a:pt x="3770910" y="669810"/>
                    <a:pt x="3763635" y="669810"/>
                  </a:cubicBezTo>
                  <a:lnTo>
                    <a:pt x="27430" y="669810"/>
                  </a:lnTo>
                  <a:cubicBezTo>
                    <a:pt x="12281" y="669810"/>
                    <a:pt x="0" y="657529"/>
                    <a:pt x="0" y="642379"/>
                  </a:cubicBezTo>
                  <a:lnTo>
                    <a:pt x="0" y="27430"/>
                  </a:lnTo>
                  <a:cubicBezTo>
                    <a:pt x="0" y="12281"/>
                    <a:pt x="12281" y="0"/>
                    <a:pt x="27430" y="0"/>
                  </a:cubicBezTo>
                  <a:close/>
                </a:path>
              </a:pathLst>
            </a:custGeom>
            <a:solidFill>
              <a:srgbClr val="343434"/>
            </a:solidFill>
            <a:ln cap="rnd">
              <a:noFill/>
              <a:prstDash val="solid"/>
              <a:round/>
            </a:ln>
          </p:spPr>
        </p:sp>
        <p:sp>
          <p:nvSpPr>
            <p:cNvPr name="TextBox 26" id="26"/>
            <p:cNvSpPr txBox="true"/>
            <p:nvPr/>
          </p:nvSpPr>
          <p:spPr>
            <a:xfrm>
              <a:off x="0" y="-38100"/>
              <a:ext cx="3791065" cy="70791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2862836" y="6499970"/>
            <a:ext cx="12562327" cy="1656588"/>
          </a:xfrm>
          <a:prstGeom prst="rect">
            <a:avLst/>
          </a:prstGeom>
        </p:spPr>
        <p:txBody>
          <a:bodyPr anchor="t" rtlCol="false" tIns="0" lIns="0" bIns="0" rIns="0">
            <a:spAutoFit/>
          </a:bodyPr>
          <a:lstStyle/>
          <a:p>
            <a:pPr algn="l" marL="496569" indent="-248284" lvl="1">
              <a:lnSpc>
                <a:spcPts val="2690"/>
              </a:lnSpc>
              <a:buFont typeface="Arial"/>
              <a:buChar char="•"/>
            </a:pPr>
            <a:r>
              <a:rPr lang="en-US" sz="2299">
                <a:solidFill>
                  <a:srgbClr val="F1EDE2"/>
                </a:solidFill>
                <a:latin typeface="TT Fors"/>
                <a:ea typeface="TT Fors"/>
                <a:cs typeface="TT Fors"/>
                <a:sym typeface="TT Fors"/>
              </a:rPr>
              <a:t>Flutt</a:t>
            </a:r>
            <a:r>
              <a:rPr lang="en-US" sz="2299">
                <a:solidFill>
                  <a:srgbClr val="F1EDE2"/>
                </a:solidFill>
                <a:latin typeface="TT Fors"/>
                <a:ea typeface="TT Fors"/>
                <a:cs typeface="TT Fors"/>
                <a:sym typeface="TT Fors"/>
              </a:rPr>
              <a:t>er → framework</a:t>
            </a:r>
          </a:p>
          <a:p>
            <a:pPr algn="l" marL="496569" indent="-248284" lvl="1">
              <a:lnSpc>
                <a:spcPts val="2690"/>
              </a:lnSpc>
              <a:buFont typeface="Arial"/>
              <a:buChar char="•"/>
            </a:pPr>
            <a:r>
              <a:rPr lang="en-US" sz="2299">
                <a:solidFill>
                  <a:srgbClr val="F1EDE2"/>
                </a:solidFill>
                <a:latin typeface="TT Fors"/>
                <a:ea typeface="TT Fors"/>
                <a:cs typeface="TT Fors"/>
                <a:sym typeface="TT Fors"/>
              </a:rPr>
              <a:t>Dart → language</a:t>
            </a:r>
          </a:p>
          <a:p>
            <a:pPr algn="l" marL="496569" indent="-248284" lvl="1">
              <a:lnSpc>
                <a:spcPts val="2690"/>
              </a:lnSpc>
              <a:buFont typeface="Arial"/>
              <a:buChar char="•"/>
            </a:pPr>
            <a:r>
              <a:rPr lang="en-US" sz="2299">
                <a:solidFill>
                  <a:srgbClr val="F1EDE2"/>
                </a:solidFill>
                <a:latin typeface="TT Fors"/>
                <a:ea typeface="TT Fors"/>
                <a:cs typeface="TT Fors"/>
                <a:sym typeface="TT Fors"/>
              </a:rPr>
              <a:t>We write Dart code</a:t>
            </a:r>
          </a:p>
          <a:p>
            <a:pPr algn="l" marL="496569" indent="-248284" lvl="1">
              <a:lnSpc>
                <a:spcPts val="2690"/>
              </a:lnSpc>
              <a:buFont typeface="Arial"/>
              <a:buChar char="•"/>
            </a:pPr>
            <a:r>
              <a:rPr lang="en-US" sz="2299">
                <a:solidFill>
                  <a:srgbClr val="F1EDE2"/>
                </a:solidFill>
                <a:latin typeface="TT Fors"/>
                <a:ea typeface="TT Fors"/>
                <a:cs typeface="TT Fors"/>
                <a:sym typeface="TT Fors"/>
              </a:rPr>
              <a:t>Flutter converts it into a working app</a:t>
            </a:r>
          </a:p>
          <a:p>
            <a:pPr algn="l">
              <a:lnSpc>
                <a:spcPts val="2690"/>
              </a:lnSpc>
            </a:pPr>
          </a:p>
        </p:txBody>
      </p:sp>
      <p:sp>
        <p:nvSpPr>
          <p:cNvPr name="Freeform 28" id="28"/>
          <p:cNvSpPr/>
          <p:nvPr/>
        </p:nvSpPr>
        <p:spPr>
          <a:xfrm flipH="false" flipV="false" rot="0">
            <a:off x="15425164" y="2431011"/>
            <a:ext cx="1838981" cy="1765422"/>
          </a:xfrm>
          <a:custGeom>
            <a:avLst/>
            <a:gdLst/>
            <a:ahLst/>
            <a:cxnLst/>
            <a:rect r="r" b="b" t="t" l="l"/>
            <a:pathLst>
              <a:path h="1765422" w="1838981">
                <a:moveTo>
                  <a:pt x="0" y="0"/>
                </a:moveTo>
                <a:lnTo>
                  <a:pt x="1838980" y="0"/>
                </a:lnTo>
                <a:lnTo>
                  <a:pt x="1838980" y="1765422"/>
                </a:lnTo>
                <a:lnTo>
                  <a:pt x="0" y="17654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1285451" y="6476193"/>
            <a:ext cx="1322898" cy="1418312"/>
          </a:xfrm>
          <a:custGeom>
            <a:avLst/>
            <a:gdLst/>
            <a:ahLst/>
            <a:cxnLst/>
            <a:rect r="r" b="b" t="t" l="l"/>
            <a:pathLst>
              <a:path h="1418312" w="1322898">
                <a:moveTo>
                  <a:pt x="0" y="0"/>
                </a:moveTo>
                <a:lnTo>
                  <a:pt x="1322898" y="0"/>
                </a:lnTo>
                <a:lnTo>
                  <a:pt x="1322898" y="1418312"/>
                </a:lnTo>
                <a:lnTo>
                  <a:pt x="0" y="14183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83555" y="-565425"/>
            <a:ext cx="4627956" cy="3862240"/>
          </a:xfrm>
          <a:custGeom>
            <a:avLst/>
            <a:gdLst/>
            <a:ahLst/>
            <a:cxnLst/>
            <a:rect r="r" b="b" t="t" l="l"/>
            <a:pathLst>
              <a:path h="3862240" w="4627956">
                <a:moveTo>
                  <a:pt x="0" y="0"/>
                </a:moveTo>
                <a:lnTo>
                  <a:pt x="4627956" y="0"/>
                </a:lnTo>
                <a:lnTo>
                  <a:pt x="4627956" y="3862239"/>
                </a:lnTo>
                <a:lnTo>
                  <a:pt x="0" y="38622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8071" y="-235831"/>
            <a:ext cx="21517324" cy="10758662"/>
            <a:chOff x="0" y="0"/>
            <a:chExt cx="28689765" cy="14344882"/>
          </a:xfrm>
        </p:grpSpPr>
        <p:sp>
          <p:nvSpPr>
            <p:cNvPr name="Freeform 4" id="4"/>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grpSp>
      <p:grpSp>
        <p:nvGrpSpPr>
          <p:cNvPr name="Group 12" id="12"/>
          <p:cNvGrpSpPr/>
          <p:nvPr/>
        </p:nvGrpSpPr>
        <p:grpSpPr>
          <a:xfrm rot="0">
            <a:off x="15066413" y="683012"/>
            <a:ext cx="2065807" cy="749445"/>
            <a:chOff x="0" y="0"/>
            <a:chExt cx="1120221" cy="406400"/>
          </a:xfrm>
        </p:grpSpPr>
        <p:sp>
          <p:nvSpPr>
            <p:cNvPr name="Freeform 13" id="13"/>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4" id="14"/>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543936" y="646641"/>
            <a:ext cx="822187" cy="822187"/>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0606946" y="1028700"/>
            <a:ext cx="3292406" cy="3196627"/>
          </a:xfrm>
          <a:custGeom>
            <a:avLst/>
            <a:gdLst/>
            <a:ahLst/>
            <a:cxnLst/>
            <a:rect r="r" b="b" t="t" l="l"/>
            <a:pathLst>
              <a:path h="3196627" w="3292406">
                <a:moveTo>
                  <a:pt x="0" y="0"/>
                </a:moveTo>
                <a:lnTo>
                  <a:pt x="3292406" y="0"/>
                </a:lnTo>
                <a:lnTo>
                  <a:pt x="3292406" y="3196627"/>
                </a:lnTo>
                <a:lnTo>
                  <a:pt x="0" y="3196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5400000">
            <a:off x="-1285278" y="8355880"/>
            <a:ext cx="4627956" cy="3862240"/>
          </a:xfrm>
          <a:custGeom>
            <a:avLst/>
            <a:gdLst/>
            <a:ahLst/>
            <a:cxnLst/>
            <a:rect r="r" b="b" t="t" l="l"/>
            <a:pathLst>
              <a:path h="3862240" w="4627956">
                <a:moveTo>
                  <a:pt x="0" y="0"/>
                </a:moveTo>
                <a:lnTo>
                  <a:pt x="4627956" y="0"/>
                </a:lnTo>
                <a:lnTo>
                  <a:pt x="4627956" y="3862240"/>
                </a:lnTo>
                <a:lnTo>
                  <a:pt x="0" y="3862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7609050" y="6061673"/>
            <a:ext cx="3069900" cy="825036"/>
          </a:xfrm>
          <a:custGeom>
            <a:avLst/>
            <a:gdLst/>
            <a:ahLst/>
            <a:cxnLst/>
            <a:rect r="r" b="b" t="t" l="l"/>
            <a:pathLst>
              <a:path h="825036" w="3069900">
                <a:moveTo>
                  <a:pt x="0" y="0"/>
                </a:moveTo>
                <a:lnTo>
                  <a:pt x="3069900" y="0"/>
                </a:lnTo>
                <a:lnTo>
                  <a:pt x="3069900" y="825035"/>
                </a:lnTo>
                <a:lnTo>
                  <a:pt x="0" y="825035"/>
                </a:lnTo>
                <a:lnTo>
                  <a:pt x="0" y="0"/>
                </a:lnTo>
                <a:close/>
              </a:path>
            </a:pathLst>
          </a:custGeom>
          <a:blipFill>
            <a:blip r:embed="rId8">
              <a:alphaModFix amt="96000"/>
            </a:blip>
            <a:stretch>
              <a:fillRect l="0" t="0" r="0" b="0"/>
            </a:stretch>
          </a:blipFill>
        </p:spPr>
      </p:sp>
      <p:sp>
        <p:nvSpPr>
          <p:cNvPr name="TextBox 21" id="21"/>
          <p:cNvSpPr txBox="true"/>
          <p:nvPr/>
        </p:nvSpPr>
        <p:spPr>
          <a:xfrm rot="0">
            <a:off x="2110661" y="4682527"/>
            <a:ext cx="14066678" cy="1379145"/>
          </a:xfrm>
          <a:prstGeom prst="rect">
            <a:avLst/>
          </a:prstGeom>
        </p:spPr>
        <p:txBody>
          <a:bodyPr anchor="t" rtlCol="false" tIns="0" lIns="0" bIns="0" rIns="0">
            <a:spAutoFit/>
          </a:bodyPr>
          <a:lstStyle/>
          <a:p>
            <a:pPr algn="l">
              <a:lnSpc>
                <a:spcPts val="9664"/>
              </a:lnSpc>
            </a:pPr>
            <a:r>
              <a:rPr lang="en-US" sz="12080">
                <a:solidFill>
                  <a:srgbClr val="3A3E61"/>
                </a:solidFill>
                <a:latin typeface="Extenda 90 Exa"/>
                <a:ea typeface="Extenda 90 Exa"/>
                <a:cs typeface="Extenda 90 Exa"/>
                <a:sym typeface="Extenda 90 Exa"/>
              </a:rPr>
              <a:t>Installation Guide</a:t>
            </a:r>
          </a:p>
        </p:txBody>
      </p:sp>
      <p:sp>
        <p:nvSpPr>
          <p:cNvPr name="TextBox 22" id="22"/>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23" id="23"/>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04</a:t>
            </a:r>
          </a:p>
        </p:txBody>
      </p:sp>
      <p:sp>
        <p:nvSpPr>
          <p:cNvPr name="TextBox 24" id="24"/>
          <p:cNvSpPr txBox="true"/>
          <p:nvPr/>
        </p:nvSpPr>
        <p:spPr>
          <a:xfrm rot="0">
            <a:off x="7866935" y="6163337"/>
            <a:ext cx="2554130" cy="548769"/>
          </a:xfrm>
          <a:prstGeom prst="rect">
            <a:avLst/>
          </a:prstGeom>
        </p:spPr>
        <p:txBody>
          <a:bodyPr anchor="t" rtlCol="false" tIns="0" lIns="0" bIns="0" rIns="0">
            <a:spAutoFit/>
          </a:bodyPr>
          <a:lstStyle/>
          <a:p>
            <a:pPr algn="ctr">
              <a:lnSpc>
                <a:spcPts val="4402"/>
              </a:lnSpc>
              <a:spcBef>
                <a:spcPct val="0"/>
              </a:spcBef>
            </a:pPr>
            <a:r>
              <a:rPr lang="en-US" sz="3144" u="sng">
                <a:solidFill>
                  <a:srgbClr val="D1D3EB"/>
                </a:solidFill>
                <a:latin typeface="Extenda 90 Exa"/>
                <a:ea typeface="Extenda 90 Exa"/>
                <a:cs typeface="Extenda 90 Exa"/>
                <a:sym typeface="Extenda 90 Exa"/>
                <a:hlinkClick r:id="rId9" tooltip="https://github.com/Shaan-Shoukath/Intro-To-Flutter"/>
              </a:rPr>
              <a:t>Click Here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83555" y="-565425"/>
            <a:ext cx="4627956" cy="3862240"/>
          </a:xfrm>
          <a:custGeom>
            <a:avLst/>
            <a:gdLst/>
            <a:ahLst/>
            <a:cxnLst/>
            <a:rect r="r" b="b" t="t" l="l"/>
            <a:pathLst>
              <a:path h="3862240" w="4627956">
                <a:moveTo>
                  <a:pt x="0" y="0"/>
                </a:moveTo>
                <a:lnTo>
                  <a:pt x="4627956" y="0"/>
                </a:lnTo>
                <a:lnTo>
                  <a:pt x="4627956" y="3862239"/>
                </a:lnTo>
                <a:lnTo>
                  <a:pt x="0" y="38622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8071" y="-235831"/>
            <a:ext cx="21517324" cy="10758662"/>
            <a:chOff x="0" y="0"/>
            <a:chExt cx="28689765" cy="14344882"/>
          </a:xfrm>
        </p:grpSpPr>
        <p:sp>
          <p:nvSpPr>
            <p:cNvPr name="Freeform 4" id="4"/>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grpSp>
      <p:grpSp>
        <p:nvGrpSpPr>
          <p:cNvPr name="Group 12" id="12"/>
          <p:cNvGrpSpPr/>
          <p:nvPr/>
        </p:nvGrpSpPr>
        <p:grpSpPr>
          <a:xfrm rot="0">
            <a:off x="15066413" y="683012"/>
            <a:ext cx="2065807" cy="749445"/>
            <a:chOff x="0" y="0"/>
            <a:chExt cx="1120221" cy="406400"/>
          </a:xfrm>
        </p:grpSpPr>
        <p:sp>
          <p:nvSpPr>
            <p:cNvPr name="Freeform 13" id="13"/>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4" id="14"/>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028700" y="1840303"/>
            <a:ext cx="10976345" cy="2059305"/>
          </a:xfrm>
          <a:prstGeom prst="rect">
            <a:avLst/>
          </a:prstGeom>
        </p:spPr>
        <p:txBody>
          <a:bodyPr anchor="t" rtlCol="false" tIns="0" lIns="0" bIns="0" rIns="0">
            <a:spAutoFit/>
          </a:bodyPr>
          <a:lstStyle/>
          <a:p>
            <a:pPr algn="l">
              <a:lnSpc>
                <a:spcPts val="7680"/>
              </a:lnSpc>
            </a:pPr>
            <a:r>
              <a:rPr lang="en-US" sz="9600">
                <a:solidFill>
                  <a:srgbClr val="3A3E61"/>
                </a:solidFill>
                <a:latin typeface="Extenda 90 Exa"/>
                <a:ea typeface="Extenda 90 Exa"/>
                <a:cs typeface="Extenda 90 Exa"/>
                <a:sym typeface="Extenda 90 Exa"/>
              </a:rPr>
              <a:t>From Code to Screen..</a:t>
            </a:r>
          </a:p>
        </p:txBody>
      </p:sp>
      <p:sp>
        <p:nvSpPr>
          <p:cNvPr name="TextBox 16" id="16"/>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17" id="17"/>
          <p:cNvGrpSpPr/>
          <p:nvPr/>
        </p:nvGrpSpPr>
        <p:grpSpPr>
          <a:xfrm rot="0">
            <a:off x="16543936" y="646641"/>
            <a:ext cx="822187" cy="82218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04</a:t>
            </a:r>
          </a:p>
        </p:txBody>
      </p:sp>
      <p:sp>
        <p:nvSpPr>
          <p:cNvPr name="TextBox 21" id="21"/>
          <p:cNvSpPr txBox="true"/>
          <p:nvPr/>
        </p:nvSpPr>
        <p:spPr>
          <a:xfrm rot="0">
            <a:off x="1028700" y="5880074"/>
            <a:ext cx="6265630" cy="1986460"/>
          </a:xfrm>
          <a:prstGeom prst="rect">
            <a:avLst/>
          </a:prstGeom>
        </p:spPr>
        <p:txBody>
          <a:bodyPr anchor="t" rtlCol="false" tIns="0" lIns="0" bIns="0" rIns="0">
            <a:spAutoFit/>
          </a:bodyPr>
          <a:lstStyle/>
          <a:p>
            <a:pPr algn="just" marL="741937" indent="-370968" lvl="1">
              <a:lnSpc>
                <a:spcPts val="4020"/>
              </a:lnSpc>
              <a:buFont typeface="Arial"/>
              <a:buChar char="•"/>
            </a:pPr>
            <a:r>
              <a:rPr lang="en-US" sz="3436">
                <a:solidFill>
                  <a:srgbClr val="3A3E61"/>
                </a:solidFill>
                <a:latin typeface="TT Fors"/>
                <a:ea typeface="TT Fors"/>
                <a:cs typeface="TT Fors"/>
                <a:sym typeface="TT Fors"/>
              </a:rPr>
              <a:t>We write code in Dart</a:t>
            </a:r>
          </a:p>
          <a:p>
            <a:pPr algn="just" marL="741937" indent="-370968" lvl="1">
              <a:lnSpc>
                <a:spcPts val="4020"/>
              </a:lnSpc>
              <a:buFont typeface="Arial"/>
              <a:buChar char="•"/>
            </a:pPr>
            <a:r>
              <a:rPr lang="en-US" sz="3436">
                <a:solidFill>
                  <a:srgbClr val="3A3E61"/>
                </a:solidFill>
                <a:latin typeface="TT Fors"/>
                <a:ea typeface="TT Fors"/>
                <a:cs typeface="TT Fors"/>
                <a:sym typeface="TT Fors"/>
              </a:rPr>
              <a:t>Code is made of widgets</a:t>
            </a:r>
          </a:p>
          <a:p>
            <a:pPr algn="just" marL="741937" indent="-370968" lvl="1">
              <a:lnSpc>
                <a:spcPts val="4020"/>
              </a:lnSpc>
              <a:buFont typeface="Arial"/>
              <a:buChar char="•"/>
            </a:pPr>
            <a:r>
              <a:rPr lang="en-US" sz="3436">
                <a:solidFill>
                  <a:srgbClr val="3A3E61"/>
                </a:solidFill>
                <a:latin typeface="TT Fors"/>
                <a:ea typeface="TT Fors"/>
                <a:cs typeface="TT Fors"/>
                <a:sym typeface="TT Fors"/>
              </a:rPr>
              <a:t>Widgets describe the UI</a:t>
            </a:r>
          </a:p>
          <a:p>
            <a:pPr algn="just">
              <a:lnSpc>
                <a:spcPts val="4020"/>
              </a:lnSpc>
            </a:pPr>
          </a:p>
        </p:txBody>
      </p:sp>
      <p:sp>
        <p:nvSpPr>
          <p:cNvPr name="TextBox 22" id="22"/>
          <p:cNvSpPr txBox="true"/>
          <p:nvPr/>
        </p:nvSpPr>
        <p:spPr>
          <a:xfrm rot="0">
            <a:off x="1169714" y="4945780"/>
            <a:ext cx="3303844" cy="759426"/>
          </a:xfrm>
          <a:prstGeom prst="rect">
            <a:avLst/>
          </a:prstGeom>
        </p:spPr>
        <p:txBody>
          <a:bodyPr anchor="t" rtlCol="false" tIns="0" lIns="0" bIns="0" rIns="0">
            <a:spAutoFit/>
          </a:bodyPr>
          <a:lstStyle/>
          <a:p>
            <a:pPr algn="l">
              <a:lnSpc>
                <a:spcPts val="5350"/>
              </a:lnSpc>
            </a:pPr>
            <a:r>
              <a:rPr lang="en-US" sz="6687">
                <a:solidFill>
                  <a:srgbClr val="3A3E61"/>
                </a:solidFill>
                <a:latin typeface="Extenda 90 Exa"/>
                <a:ea typeface="Extenda 90 Exa"/>
                <a:cs typeface="Extenda 90 Exa"/>
                <a:sym typeface="Extenda 90 Exa"/>
              </a:rPr>
              <a:t>Step 01</a:t>
            </a:r>
          </a:p>
        </p:txBody>
      </p:sp>
      <p:sp>
        <p:nvSpPr>
          <p:cNvPr name="TextBox 23" id="23"/>
          <p:cNvSpPr txBox="true"/>
          <p:nvPr/>
        </p:nvSpPr>
        <p:spPr>
          <a:xfrm rot="0">
            <a:off x="9244583" y="5853178"/>
            <a:ext cx="7702650" cy="2013356"/>
          </a:xfrm>
          <a:prstGeom prst="rect">
            <a:avLst/>
          </a:prstGeom>
        </p:spPr>
        <p:txBody>
          <a:bodyPr anchor="t" rtlCol="false" tIns="0" lIns="0" bIns="0" rIns="0">
            <a:spAutoFit/>
          </a:bodyPr>
          <a:lstStyle/>
          <a:p>
            <a:pPr algn="just" marL="742697" indent="-371348" lvl="1">
              <a:lnSpc>
                <a:spcPts val="4024"/>
              </a:lnSpc>
              <a:buFont typeface="Arial"/>
              <a:buChar char="•"/>
            </a:pPr>
            <a:r>
              <a:rPr lang="en-US" sz="3440">
                <a:solidFill>
                  <a:srgbClr val="3A3E61"/>
                </a:solidFill>
                <a:latin typeface="TT Fors"/>
                <a:ea typeface="TT Fors"/>
                <a:cs typeface="TT Fors"/>
                <a:sym typeface="TT Fors"/>
              </a:rPr>
              <a:t>Flutter reads the widget tree</a:t>
            </a:r>
          </a:p>
          <a:p>
            <a:pPr algn="just" marL="742697" indent="-371348" lvl="1">
              <a:lnSpc>
                <a:spcPts val="4024"/>
              </a:lnSpc>
              <a:buFont typeface="Arial"/>
              <a:buChar char="•"/>
            </a:pPr>
            <a:r>
              <a:rPr lang="en-US" sz="3440">
                <a:solidFill>
                  <a:srgbClr val="3A3E61"/>
                </a:solidFill>
                <a:latin typeface="TT Fors"/>
                <a:ea typeface="TT Fors"/>
                <a:cs typeface="TT Fors"/>
                <a:sym typeface="TT Fors"/>
              </a:rPr>
              <a:t>It draws everything on the screen</a:t>
            </a:r>
          </a:p>
          <a:p>
            <a:pPr algn="just" marL="742697" indent="-371348" lvl="1">
              <a:lnSpc>
                <a:spcPts val="4024"/>
              </a:lnSpc>
              <a:buFont typeface="Arial"/>
              <a:buChar char="•"/>
            </a:pPr>
            <a:r>
              <a:rPr lang="en-US" sz="3440">
                <a:solidFill>
                  <a:srgbClr val="3A3E61"/>
                </a:solidFill>
                <a:latin typeface="TT Fors"/>
                <a:ea typeface="TT Fors"/>
                <a:cs typeface="TT Fors"/>
                <a:sym typeface="TT Fors"/>
              </a:rPr>
              <a:t>Same UI on every platform</a:t>
            </a:r>
          </a:p>
          <a:p>
            <a:pPr algn="just">
              <a:lnSpc>
                <a:spcPts val="4024"/>
              </a:lnSpc>
            </a:pPr>
          </a:p>
        </p:txBody>
      </p:sp>
      <p:sp>
        <p:nvSpPr>
          <p:cNvPr name="TextBox 24" id="24"/>
          <p:cNvSpPr txBox="true"/>
          <p:nvPr/>
        </p:nvSpPr>
        <p:spPr>
          <a:xfrm rot="0">
            <a:off x="9555124" y="4945780"/>
            <a:ext cx="6417148" cy="768477"/>
          </a:xfrm>
          <a:prstGeom prst="rect">
            <a:avLst/>
          </a:prstGeom>
        </p:spPr>
        <p:txBody>
          <a:bodyPr anchor="t" rtlCol="false" tIns="0" lIns="0" bIns="0" rIns="0">
            <a:spAutoFit/>
          </a:bodyPr>
          <a:lstStyle/>
          <a:p>
            <a:pPr algn="l">
              <a:lnSpc>
                <a:spcPts val="5352"/>
              </a:lnSpc>
            </a:pPr>
            <a:r>
              <a:rPr lang="en-US" sz="6690">
                <a:solidFill>
                  <a:srgbClr val="3A3E61"/>
                </a:solidFill>
                <a:latin typeface="Extenda 90 Exa"/>
                <a:ea typeface="Extenda 90 Exa"/>
                <a:cs typeface="Extenda 90 Exa"/>
                <a:sym typeface="Extenda 90 Exa"/>
              </a:rPr>
              <a:t>Step 02</a:t>
            </a:r>
          </a:p>
        </p:txBody>
      </p:sp>
      <p:sp>
        <p:nvSpPr>
          <p:cNvPr name="Freeform 25" id="25"/>
          <p:cNvSpPr/>
          <p:nvPr/>
        </p:nvSpPr>
        <p:spPr>
          <a:xfrm flipH="false" flipV="false" rot="0">
            <a:off x="11538792" y="1028700"/>
            <a:ext cx="2360560" cy="2291889"/>
          </a:xfrm>
          <a:custGeom>
            <a:avLst/>
            <a:gdLst/>
            <a:ahLst/>
            <a:cxnLst/>
            <a:rect r="r" b="b" t="t" l="l"/>
            <a:pathLst>
              <a:path h="2291889" w="2360560">
                <a:moveTo>
                  <a:pt x="0" y="0"/>
                </a:moveTo>
                <a:lnTo>
                  <a:pt x="2360560" y="0"/>
                </a:lnTo>
                <a:lnTo>
                  <a:pt x="2360560" y="2291889"/>
                </a:lnTo>
                <a:lnTo>
                  <a:pt x="0" y="22918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5400000">
            <a:off x="-2744279" y="8520915"/>
            <a:ext cx="6067896" cy="5063935"/>
          </a:xfrm>
          <a:custGeom>
            <a:avLst/>
            <a:gdLst/>
            <a:ahLst/>
            <a:cxnLst/>
            <a:rect r="r" b="b" t="t" l="l"/>
            <a:pathLst>
              <a:path h="5063935" w="6067896">
                <a:moveTo>
                  <a:pt x="0" y="0"/>
                </a:moveTo>
                <a:lnTo>
                  <a:pt x="6067896" y="0"/>
                </a:lnTo>
                <a:lnTo>
                  <a:pt x="6067896" y="5063935"/>
                </a:lnTo>
                <a:lnTo>
                  <a:pt x="0" y="50639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0">
            <a:off x="523556" y="1038225"/>
            <a:ext cx="1322898" cy="1418312"/>
          </a:xfrm>
          <a:custGeom>
            <a:avLst/>
            <a:gdLst/>
            <a:ahLst/>
            <a:cxnLst/>
            <a:rect r="r" b="b" t="t" l="l"/>
            <a:pathLst>
              <a:path h="1418312" w="1322898">
                <a:moveTo>
                  <a:pt x="0" y="0"/>
                </a:moveTo>
                <a:lnTo>
                  <a:pt x="1322897" y="0"/>
                </a:lnTo>
                <a:lnTo>
                  <a:pt x="1322897" y="1418312"/>
                </a:lnTo>
                <a:lnTo>
                  <a:pt x="0" y="1418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049757" y="-235831"/>
            <a:ext cx="21517324" cy="10758662"/>
            <a:chOff x="0" y="0"/>
            <a:chExt cx="28689765" cy="14344882"/>
          </a:xfrm>
        </p:grpSpPr>
        <p:sp>
          <p:nvSpPr>
            <p:cNvPr name="Freeform 4" id="4"/>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grpSp>
      <p:grpSp>
        <p:nvGrpSpPr>
          <p:cNvPr name="Group 12" id="12"/>
          <p:cNvGrpSpPr/>
          <p:nvPr/>
        </p:nvGrpSpPr>
        <p:grpSpPr>
          <a:xfrm rot="0">
            <a:off x="15066413" y="683012"/>
            <a:ext cx="2065807" cy="749445"/>
            <a:chOff x="0" y="0"/>
            <a:chExt cx="1120221" cy="406400"/>
          </a:xfrm>
        </p:grpSpPr>
        <p:sp>
          <p:nvSpPr>
            <p:cNvPr name="Freeform 13" id="13"/>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4" id="14"/>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948190" y="1840303"/>
            <a:ext cx="13118223" cy="2205847"/>
          </a:xfrm>
          <a:prstGeom prst="rect">
            <a:avLst/>
          </a:prstGeom>
        </p:spPr>
        <p:txBody>
          <a:bodyPr anchor="t" rtlCol="false" tIns="0" lIns="0" bIns="0" rIns="0">
            <a:spAutoFit/>
          </a:bodyPr>
          <a:lstStyle/>
          <a:p>
            <a:pPr algn="l">
              <a:lnSpc>
                <a:spcPts val="8142"/>
              </a:lnSpc>
            </a:pPr>
            <a:r>
              <a:rPr lang="en-US" sz="10178">
                <a:solidFill>
                  <a:srgbClr val="3A3E61"/>
                </a:solidFill>
                <a:latin typeface="Extenda 90 Exa"/>
                <a:ea typeface="Extenda 90 Exa"/>
                <a:cs typeface="Extenda 90 Exa"/>
                <a:sym typeface="Extenda 90 Exa"/>
              </a:rPr>
              <a:t>Are We Ready to Run Flutter?</a:t>
            </a:r>
          </a:p>
        </p:txBody>
      </p:sp>
      <p:grpSp>
        <p:nvGrpSpPr>
          <p:cNvPr name="Group 16" id="16"/>
          <p:cNvGrpSpPr/>
          <p:nvPr/>
        </p:nvGrpSpPr>
        <p:grpSpPr>
          <a:xfrm rot="0">
            <a:off x="16543936" y="646641"/>
            <a:ext cx="822187" cy="82218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916536" y="5153025"/>
            <a:ext cx="8900598" cy="2006724"/>
          </a:xfrm>
          <a:prstGeom prst="rect">
            <a:avLst/>
          </a:prstGeom>
        </p:spPr>
        <p:txBody>
          <a:bodyPr anchor="t" rtlCol="false" tIns="0" lIns="0" bIns="0" rIns="0">
            <a:spAutoFit/>
          </a:bodyPr>
          <a:lstStyle/>
          <a:p>
            <a:pPr algn="just" marL="597508" indent="-298754" lvl="1">
              <a:lnSpc>
                <a:spcPts val="3237"/>
              </a:lnSpc>
              <a:buFont typeface="Arial"/>
              <a:buChar char="•"/>
            </a:pPr>
            <a:r>
              <a:rPr lang="en-US" sz="2767">
                <a:solidFill>
                  <a:srgbClr val="3A3E61"/>
                </a:solidFill>
                <a:latin typeface="TT Fors"/>
                <a:ea typeface="TT Fors"/>
                <a:cs typeface="TT Fors"/>
                <a:sym typeface="TT Fors"/>
              </a:rPr>
              <a:t>Flutter SDK installed</a:t>
            </a:r>
          </a:p>
          <a:p>
            <a:pPr algn="just" marL="597508" indent="-298754" lvl="1">
              <a:lnSpc>
                <a:spcPts val="3237"/>
              </a:lnSpc>
              <a:buFont typeface="Arial"/>
              <a:buChar char="•"/>
            </a:pPr>
            <a:r>
              <a:rPr lang="en-US" sz="2767">
                <a:solidFill>
                  <a:srgbClr val="3A3E61"/>
                </a:solidFill>
                <a:latin typeface="TT Fors"/>
                <a:ea typeface="TT Fors"/>
                <a:cs typeface="TT Fors"/>
                <a:sym typeface="TT Fors"/>
              </a:rPr>
              <a:t>Code editor (VS Code / Android Studio)</a:t>
            </a:r>
          </a:p>
          <a:p>
            <a:pPr algn="just" marL="597508" indent="-298754" lvl="1">
              <a:lnSpc>
                <a:spcPts val="3237"/>
              </a:lnSpc>
              <a:buFont typeface="Arial"/>
              <a:buChar char="•"/>
            </a:pPr>
            <a:r>
              <a:rPr lang="en-US" sz="2767">
                <a:solidFill>
                  <a:srgbClr val="3A3E61"/>
                </a:solidFill>
                <a:latin typeface="TT Fors"/>
                <a:ea typeface="TT Fors"/>
                <a:cs typeface="TT Fors"/>
                <a:sym typeface="TT Fors"/>
              </a:rPr>
              <a:t>Emulator or physical device</a:t>
            </a:r>
          </a:p>
          <a:p>
            <a:pPr algn="just" marL="597508" indent="-298754" lvl="1">
              <a:lnSpc>
                <a:spcPts val="3237"/>
              </a:lnSpc>
              <a:buFont typeface="Arial"/>
              <a:buChar char="•"/>
            </a:pPr>
            <a:r>
              <a:rPr lang="en-US" sz="2767">
                <a:solidFill>
                  <a:srgbClr val="3A3E61"/>
                </a:solidFill>
                <a:latin typeface="TT Fors"/>
                <a:ea typeface="TT Fors"/>
                <a:cs typeface="TT Fors"/>
                <a:sym typeface="TT Fors"/>
              </a:rPr>
              <a:t>flutter doctor runs without major errors</a:t>
            </a:r>
          </a:p>
          <a:p>
            <a:pPr algn="just">
              <a:lnSpc>
                <a:spcPts val="3237"/>
              </a:lnSpc>
            </a:pPr>
          </a:p>
        </p:txBody>
      </p:sp>
      <p:sp>
        <p:nvSpPr>
          <p:cNvPr name="Freeform 20" id="20"/>
          <p:cNvSpPr/>
          <p:nvPr/>
        </p:nvSpPr>
        <p:spPr>
          <a:xfrm flipH="false" flipV="false" rot="0">
            <a:off x="12816974" y="482984"/>
            <a:ext cx="1838981" cy="1765422"/>
          </a:xfrm>
          <a:custGeom>
            <a:avLst/>
            <a:gdLst/>
            <a:ahLst/>
            <a:cxnLst/>
            <a:rect r="r" b="b" t="t" l="l"/>
            <a:pathLst>
              <a:path h="1765422" w="1838981">
                <a:moveTo>
                  <a:pt x="0" y="0"/>
                </a:moveTo>
                <a:lnTo>
                  <a:pt x="1838981" y="0"/>
                </a:lnTo>
                <a:lnTo>
                  <a:pt x="1838981" y="1765421"/>
                </a:lnTo>
                <a:lnTo>
                  <a:pt x="0" y="1765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a:grpSpLocks noChangeAspect="true"/>
          </p:cNvGrpSpPr>
          <p:nvPr/>
        </p:nvGrpSpPr>
        <p:grpSpPr>
          <a:xfrm rot="0">
            <a:off x="8708905" y="4084250"/>
            <a:ext cx="9344163" cy="5359699"/>
            <a:chOff x="0" y="0"/>
            <a:chExt cx="7981950" cy="4578350"/>
          </a:xfrm>
        </p:grpSpPr>
        <p:sp>
          <p:nvSpPr>
            <p:cNvPr name="Freeform 22" id="22"/>
            <p:cNvSpPr/>
            <p:nvPr/>
          </p:nvSpPr>
          <p:spPr>
            <a:xfrm flipH="false" flipV="false" rot="0">
              <a:off x="765810" y="21590"/>
              <a:ext cx="6451600" cy="4326890"/>
            </a:xfrm>
            <a:custGeom>
              <a:avLst/>
              <a:gdLst/>
              <a:ahLst/>
              <a:cxnLst/>
              <a:rect r="r" b="b" t="t" l="l"/>
              <a:pathLst>
                <a:path h="4326890" w="645160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p:spPr>
        </p:sp>
        <p:sp>
          <p:nvSpPr>
            <p:cNvPr name="Freeform 23" id="23"/>
            <p:cNvSpPr/>
            <p:nvPr/>
          </p:nvSpPr>
          <p:spPr>
            <a:xfrm flipH="false" flipV="false" rot="0">
              <a:off x="0" y="0"/>
              <a:ext cx="7981950" cy="4542790"/>
            </a:xfrm>
            <a:custGeom>
              <a:avLst/>
              <a:gdLst/>
              <a:ahLst/>
              <a:cxnLst/>
              <a:rect r="r" b="b" t="t" l="l"/>
              <a:pathLst>
                <a:path h="4542790" w="798195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sp>
        <p:sp>
          <p:nvSpPr>
            <p:cNvPr name="Freeform 24" id="24"/>
            <p:cNvSpPr/>
            <p:nvPr/>
          </p:nvSpPr>
          <p:spPr>
            <a:xfrm flipH="false" flipV="false" rot="0">
              <a:off x="3460750" y="4349750"/>
              <a:ext cx="1059180" cy="96520"/>
            </a:xfrm>
            <a:custGeom>
              <a:avLst/>
              <a:gdLst/>
              <a:ahLst/>
              <a:cxnLst/>
              <a:rect r="r" b="b" t="t" l="l"/>
              <a:pathLst>
                <a:path h="96520" w="105918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sp>
        <p:sp>
          <p:nvSpPr>
            <p:cNvPr name="Freeform 25" id="25"/>
            <p:cNvSpPr/>
            <p:nvPr/>
          </p:nvSpPr>
          <p:spPr>
            <a:xfrm flipH="false" flipV="false" rot="0">
              <a:off x="163830" y="4542790"/>
              <a:ext cx="7654290" cy="35560"/>
            </a:xfrm>
            <a:custGeom>
              <a:avLst/>
              <a:gdLst/>
              <a:ahLst/>
              <a:cxnLst/>
              <a:rect r="r" b="b" t="t" l="l"/>
              <a:pathLst>
                <a:path h="35560" w="765429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sp>
        <p:sp>
          <p:nvSpPr>
            <p:cNvPr name="Freeform 26" id="26"/>
            <p:cNvSpPr/>
            <p:nvPr/>
          </p:nvSpPr>
          <p:spPr>
            <a:xfrm flipH="false" flipV="false" rot="0">
              <a:off x="962660" y="276860"/>
              <a:ext cx="6055360" cy="3789680"/>
            </a:xfrm>
            <a:custGeom>
              <a:avLst/>
              <a:gdLst/>
              <a:ahLst/>
              <a:cxnLst/>
              <a:rect r="r" b="b" t="t" l="l"/>
              <a:pathLst>
                <a:path h="3789680" w="6055360">
                  <a:moveTo>
                    <a:pt x="0" y="0"/>
                  </a:moveTo>
                  <a:lnTo>
                    <a:pt x="6055360" y="0"/>
                  </a:lnTo>
                  <a:lnTo>
                    <a:pt x="6055360" y="3789680"/>
                  </a:lnTo>
                  <a:lnTo>
                    <a:pt x="0" y="3789680"/>
                  </a:lnTo>
                  <a:close/>
                </a:path>
              </a:pathLst>
            </a:custGeom>
            <a:blipFill>
              <a:blip r:embed="rId8"/>
              <a:stretch>
                <a:fillRect l="-167" t="0" r="-167" b="0"/>
              </a:stretch>
            </a:blipFill>
          </p:spPr>
        </p:sp>
      </p:grpSp>
      <p:sp>
        <p:nvSpPr>
          <p:cNvPr name="Freeform 27" id="27"/>
          <p:cNvSpPr/>
          <p:nvPr/>
        </p:nvSpPr>
        <p:spPr>
          <a:xfrm flipH="false" flipV="false" rot="0">
            <a:off x="-467525" y="7626474"/>
            <a:ext cx="5067787" cy="4229299"/>
          </a:xfrm>
          <a:custGeom>
            <a:avLst/>
            <a:gdLst/>
            <a:ahLst/>
            <a:cxnLst/>
            <a:rect r="r" b="b" t="t" l="l"/>
            <a:pathLst>
              <a:path h="4229299" w="5067787">
                <a:moveTo>
                  <a:pt x="0" y="0"/>
                </a:moveTo>
                <a:lnTo>
                  <a:pt x="5067788" y="0"/>
                </a:lnTo>
                <a:lnTo>
                  <a:pt x="5067788" y="4229299"/>
                </a:lnTo>
                <a:lnTo>
                  <a:pt x="0" y="42292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8" id="28"/>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29" id="29"/>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05</a:t>
            </a:r>
          </a:p>
        </p:txBody>
      </p:sp>
      <p:sp>
        <p:nvSpPr>
          <p:cNvPr name="TextBox 30" id="30"/>
          <p:cNvSpPr txBox="true"/>
          <p:nvPr/>
        </p:nvSpPr>
        <p:spPr>
          <a:xfrm rot="0">
            <a:off x="1185005" y="4663440"/>
            <a:ext cx="6417148" cy="480060"/>
          </a:xfrm>
          <a:prstGeom prst="rect">
            <a:avLst/>
          </a:prstGeom>
        </p:spPr>
        <p:txBody>
          <a:bodyPr anchor="t" rtlCol="false" tIns="0" lIns="0" bIns="0" rIns="0">
            <a:spAutoFit/>
          </a:bodyPr>
          <a:lstStyle/>
          <a:p>
            <a:pPr algn="l">
              <a:lnSpc>
                <a:spcPts val="3360"/>
              </a:lnSpc>
            </a:pPr>
            <a:r>
              <a:rPr lang="en-US" sz="4200">
                <a:solidFill>
                  <a:srgbClr val="3A3E61"/>
                </a:solidFill>
                <a:latin typeface="Extenda 90 Exa"/>
                <a:ea typeface="Extenda 90 Exa"/>
                <a:cs typeface="Extenda 90 Exa"/>
                <a:sym typeface="Extenda 90 Exa"/>
              </a:rPr>
              <a:t>Setup Checklist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01620" y="6974683"/>
            <a:ext cx="11687863" cy="1849421"/>
            <a:chOff x="0" y="0"/>
            <a:chExt cx="3078285" cy="487090"/>
          </a:xfrm>
        </p:grpSpPr>
        <p:sp>
          <p:nvSpPr>
            <p:cNvPr name="Freeform 15" id="15"/>
            <p:cNvSpPr/>
            <p:nvPr/>
          </p:nvSpPr>
          <p:spPr>
            <a:xfrm flipH="false" flipV="false" rot="0">
              <a:off x="0" y="0"/>
              <a:ext cx="3078285" cy="487090"/>
            </a:xfrm>
            <a:custGeom>
              <a:avLst/>
              <a:gdLst/>
              <a:ahLst/>
              <a:cxnLst/>
              <a:rect r="r" b="b" t="t" l="l"/>
              <a:pathLst>
                <a:path h="487090" w="3078285">
                  <a:moveTo>
                    <a:pt x="33782" y="0"/>
                  </a:moveTo>
                  <a:lnTo>
                    <a:pt x="3044503" y="0"/>
                  </a:lnTo>
                  <a:cubicBezTo>
                    <a:pt x="3063160" y="0"/>
                    <a:pt x="3078285" y="15125"/>
                    <a:pt x="3078285" y="33782"/>
                  </a:cubicBezTo>
                  <a:lnTo>
                    <a:pt x="3078285" y="453309"/>
                  </a:lnTo>
                  <a:cubicBezTo>
                    <a:pt x="3078285" y="462268"/>
                    <a:pt x="3074726" y="470861"/>
                    <a:pt x="3068390" y="477196"/>
                  </a:cubicBezTo>
                  <a:cubicBezTo>
                    <a:pt x="3062055" y="483531"/>
                    <a:pt x="3053463" y="487090"/>
                    <a:pt x="3044503" y="487090"/>
                  </a:cubicBezTo>
                  <a:lnTo>
                    <a:pt x="33782" y="487090"/>
                  </a:lnTo>
                  <a:cubicBezTo>
                    <a:pt x="15125" y="487090"/>
                    <a:pt x="0" y="471966"/>
                    <a:pt x="0" y="453309"/>
                  </a:cubicBezTo>
                  <a:lnTo>
                    <a:pt x="0" y="33782"/>
                  </a:lnTo>
                  <a:cubicBezTo>
                    <a:pt x="0" y="15125"/>
                    <a:pt x="15125" y="0"/>
                    <a:pt x="33782" y="0"/>
                  </a:cubicBezTo>
                  <a:close/>
                </a:path>
              </a:pathLst>
            </a:custGeom>
            <a:solidFill>
              <a:srgbClr val="343434"/>
            </a:solidFill>
            <a:ln cap="rnd">
              <a:noFill/>
              <a:prstDash val="solid"/>
              <a:round/>
            </a:ln>
          </p:spPr>
        </p:sp>
        <p:sp>
          <p:nvSpPr>
            <p:cNvPr name="TextBox 16" id="16"/>
            <p:cNvSpPr txBox="true"/>
            <p:nvPr/>
          </p:nvSpPr>
          <p:spPr>
            <a:xfrm>
              <a:off x="0" y="-38100"/>
              <a:ext cx="3078285" cy="52519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5444357" y="4410886"/>
            <a:ext cx="11687863" cy="1849421"/>
            <a:chOff x="0" y="0"/>
            <a:chExt cx="3078285" cy="487090"/>
          </a:xfrm>
        </p:grpSpPr>
        <p:sp>
          <p:nvSpPr>
            <p:cNvPr name="Freeform 18" id="18"/>
            <p:cNvSpPr/>
            <p:nvPr/>
          </p:nvSpPr>
          <p:spPr>
            <a:xfrm flipH="false" flipV="false" rot="0">
              <a:off x="0" y="0"/>
              <a:ext cx="3078285" cy="487090"/>
            </a:xfrm>
            <a:custGeom>
              <a:avLst/>
              <a:gdLst/>
              <a:ahLst/>
              <a:cxnLst/>
              <a:rect r="r" b="b" t="t" l="l"/>
              <a:pathLst>
                <a:path h="487090" w="3078285">
                  <a:moveTo>
                    <a:pt x="33782" y="0"/>
                  </a:moveTo>
                  <a:lnTo>
                    <a:pt x="3044503" y="0"/>
                  </a:lnTo>
                  <a:cubicBezTo>
                    <a:pt x="3063160" y="0"/>
                    <a:pt x="3078285" y="15125"/>
                    <a:pt x="3078285" y="33782"/>
                  </a:cubicBezTo>
                  <a:lnTo>
                    <a:pt x="3078285" y="453309"/>
                  </a:lnTo>
                  <a:cubicBezTo>
                    <a:pt x="3078285" y="462268"/>
                    <a:pt x="3074726" y="470861"/>
                    <a:pt x="3068390" y="477196"/>
                  </a:cubicBezTo>
                  <a:cubicBezTo>
                    <a:pt x="3062055" y="483531"/>
                    <a:pt x="3053463" y="487090"/>
                    <a:pt x="3044503" y="487090"/>
                  </a:cubicBezTo>
                  <a:lnTo>
                    <a:pt x="33782" y="487090"/>
                  </a:lnTo>
                  <a:cubicBezTo>
                    <a:pt x="15125" y="487090"/>
                    <a:pt x="0" y="471966"/>
                    <a:pt x="0" y="453309"/>
                  </a:cubicBezTo>
                  <a:lnTo>
                    <a:pt x="0" y="33782"/>
                  </a:lnTo>
                  <a:cubicBezTo>
                    <a:pt x="0" y="15125"/>
                    <a:pt x="15125" y="0"/>
                    <a:pt x="33782" y="0"/>
                  </a:cubicBezTo>
                  <a:close/>
                </a:path>
              </a:pathLst>
            </a:custGeom>
            <a:solidFill>
              <a:srgbClr val="343434"/>
            </a:solidFill>
            <a:ln cap="rnd">
              <a:noFill/>
              <a:prstDash val="solid"/>
              <a:round/>
            </a:ln>
          </p:spPr>
        </p:sp>
        <p:sp>
          <p:nvSpPr>
            <p:cNvPr name="TextBox 19" id="19"/>
            <p:cNvSpPr txBox="true"/>
            <p:nvPr/>
          </p:nvSpPr>
          <p:spPr>
            <a:xfrm>
              <a:off x="0" y="-38100"/>
              <a:ext cx="3078285" cy="52519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901620" y="3554190"/>
            <a:ext cx="4778914" cy="3136162"/>
            <a:chOff x="0" y="0"/>
            <a:chExt cx="812800" cy="533400"/>
          </a:xfrm>
        </p:grpSpPr>
        <p:sp>
          <p:nvSpPr>
            <p:cNvPr name="Freeform 21" id="21"/>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blipFill>
              <a:blip r:embed="rId4"/>
              <a:stretch>
                <a:fillRect l="-8748" t="0" r="-8748" b="0"/>
              </a:stretch>
            </a:blipFill>
          </p:spPr>
        </p:sp>
      </p:grpSp>
      <p:grpSp>
        <p:nvGrpSpPr>
          <p:cNvPr name="Group 22" id="22"/>
          <p:cNvGrpSpPr/>
          <p:nvPr/>
        </p:nvGrpSpPr>
        <p:grpSpPr>
          <a:xfrm rot="0">
            <a:off x="12353306" y="6122138"/>
            <a:ext cx="4778914" cy="3136162"/>
            <a:chOff x="0" y="0"/>
            <a:chExt cx="812800" cy="533400"/>
          </a:xfrm>
        </p:grpSpPr>
        <p:sp>
          <p:nvSpPr>
            <p:cNvPr name="Freeform 23" id="23"/>
            <p:cNvSpPr/>
            <p:nvPr/>
          </p:nvSpPr>
          <p:spPr>
            <a:xfrm flipH="false" flipV="false" rot="0">
              <a:off x="0" y="0"/>
              <a:ext cx="812800" cy="533400"/>
            </a:xfrm>
            <a:custGeom>
              <a:avLst/>
              <a:gdLst/>
              <a:ahLst/>
              <a:cxnLst/>
              <a:rect r="r" b="b" t="t" l="l"/>
              <a:pathLst>
                <a:path h="533400" w="812800">
                  <a:moveTo>
                    <a:pt x="461490" y="0"/>
                  </a:moveTo>
                  <a:cubicBezTo>
                    <a:pt x="470405" y="0"/>
                    <a:pt x="479374" y="0"/>
                    <a:pt x="488272" y="0"/>
                  </a:cubicBezTo>
                  <a:cubicBezTo>
                    <a:pt x="559210" y="8909"/>
                    <a:pt x="603543" y="38564"/>
                    <a:pt x="623736" y="87090"/>
                  </a:cubicBezTo>
                  <a:cubicBezTo>
                    <a:pt x="742003" y="80618"/>
                    <a:pt x="827989" y="172373"/>
                    <a:pt x="775586" y="262426"/>
                  </a:cubicBezTo>
                  <a:cubicBezTo>
                    <a:pt x="793012" y="281349"/>
                    <a:pt x="807550" y="302517"/>
                    <a:pt x="812800" y="330926"/>
                  </a:cubicBezTo>
                  <a:cubicBezTo>
                    <a:pt x="812800" y="339065"/>
                    <a:pt x="812800" y="347184"/>
                    <a:pt x="812800" y="355321"/>
                  </a:cubicBezTo>
                  <a:cubicBezTo>
                    <a:pt x="797154" y="427627"/>
                    <a:pt x="729827" y="476486"/>
                    <a:pt x="619295" y="463333"/>
                  </a:cubicBezTo>
                  <a:cubicBezTo>
                    <a:pt x="590856" y="500459"/>
                    <a:pt x="540252" y="537638"/>
                    <a:pt x="461507" y="533008"/>
                  </a:cubicBezTo>
                  <a:cubicBezTo>
                    <a:pt x="420804" y="530570"/>
                    <a:pt x="392488" y="516453"/>
                    <a:pt x="367697" y="499302"/>
                  </a:cubicBezTo>
                  <a:cubicBezTo>
                    <a:pt x="341584" y="513559"/>
                    <a:pt x="313304" y="524747"/>
                    <a:pt x="272443" y="524871"/>
                  </a:cubicBezTo>
                  <a:cubicBezTo>
                    <a:pt x="177910" y="525082"/>
                    <a:pt x="114672" y="470155"/>
                    <a:pt x="113139" y="394815"/>
                  </a:cubicBezTo>
                  <a:cubicBezTo>
                    <a:pt x="52367" y="377190"/>
                    <a:pt x="11206" y="344291"/>
                    <a:pt x="0" y="287995"/>
                  </a:cubicBezTo>
                  <a:cubicBezTo>
                    <a:pt x="0" y="279858"/>
                    <a:pt x="0" y="271704"/>
                    <a:pt x="0" y="263601"/>
                  </a:cubicBezTo>
                  <a:cubicBezTo>
                    <a:pt x="12369" y="207816"/>
                    <a:pt x="51292" y="172776"/>
                    <a:pt x="116099" y="157922"/>
                  </a:cubicBezTo>
                  <a:cubicBezTo>
                    <a:pt x="112205" y="63818"/>
                    <a:pt x="241837" y="5016"/>
                    <a:pt x="348333" y="46474"/>
                  </a:cubicBezTo>
                  <a:cubicBezTo>
                    <a:pt x="373689" y="25973"/>
                    <a:pt x="409562" y="3613"/>
                    <a:pt x="461490" y="0"/>
                  </a:cubicBezTo>
                  <a:close/>
                </a:path>
              </a:pathLst>
            </a:custGeom>
            <a:blipFill>
              <a:blip r:embed="rId5"/>
              <a:stretch>
                <a:fillRect l="0" t="-1594" r="-66029" b="-1594"/>
              </a:stretch>
            </a:blipFill>
          </p:spPr>
        </p:sp>
      </p:grpSp>
      <p:grpSp>
        <p:nvGrpSpPr>
          <p:cNvPr name="Group 24" id="24"/>
          <p:cNvGrpSpPr/>
          <p:nvPr/>
        </p:nvGrpSpPr>
        <p:grpSpPr>
          <a:xfrm rot="0">
            <a:off x="16543936" y="646641"/>
            <a:ext cx="822187" cy="82218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12020109" y="620356"/>
            <a:ext cx="2615158" cy="2539081"/>
          </a:xfrm>
          <a:custGeom>
            <a:avLst/>
            <a:gdLst/>
            <a:ahLst/>
            <a:cxnLst/>
            <a:rect r="r" b="b" t="t" l="l"/>
            <a:pathLst>
              <a:path h="2539081" w="2615158">
                <a:moveTo>
                  <a:pt x="0" y="0"/>
                </a:moveTo>
                <a:lnTo>
                  <a:pt x="2615158" y="0"/>
                </a:lnTo>
                <a:lnTo>
                  <a:pt x="2615158" y="2539081"/>
                </a:lnTo>
                <a:lnTo>
                  <a:pt x="0" y="25390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1315408" y="7247312"/>
            <a:ext cx="10338880" cy="1323213"/>
          </a:xfrm>
          <a:prstGeom prst="rect">
            <a:avLst/>
          </a:prstGeom>
        </p:spPr>
        <p:txBody>
          <a:bodyPr anchor="t" rtlCol="false" tIns="0" lIns="0" bIns="0" rIns="0">
            <a:spAutoFit/>
          </a:bodyPr>
          <a:lstStyle/>
          <a:p>
            <a:pPr algn="just">
              <a:lnSpc>
                <a:spcPts val="2690"/>
              </a:lnSpc>
            </a:pPr>
            <a:r>
              <a:rPr lang="en-US" sz="2299">
                <a:solidFill>
                  <a:srgbClr val="F1EDE2"/>
                </a:solidFill>
                <a:latin typeface="TT Fors"/>
                <a:ea typeface="TT Fors"/>
                <a:cs typeface="TT Fors"/>
                <a:sym typeface="TT Fors"/>
              </a:rPr>
              <a:t>In</a:t>
            </a:r>
            <a:r>
              <a:rPr lang="en-US" sz="2299">
                <a:solidFill>
                  <a:srgbClr val="F1EDE2"/>
                </a:solidFill>
                <a:latin typeface="TT Fors"/>
                <a:ea typeface="TT Fors"/>
                <a:cs typeface="TT Fors"/>
                <a:sym typeface="TT Fors"/>
              </a:rPr>
              <a:t> this section, we’ll create a brand-new Flutter project using VS Code, run the default app, and see Flutter in action. The goal isn’t to understand every line of code yet, but to get comfortable with how quickly Flutter turns code into a working app on the screen.</a:t>
            </a:r>
          </a:p>
        </p:txBody>
      </p:sp>
      <p:sp>
        <p:nvSpPr>
          <p:cNvPr name="TextBox 29" id="29"/>
          <p:cNvSpPr txBox="true"/>
          <p:nvPr/>
        </p:nvSpPr>
        <p:spPr>
          <a:xfrm rot="0">
            <a:off x="978162" y="1400175"/>
            <a:ext cx="11013372" cy="2059305"/>
          </a:xfrm>
          <a:prstGeom prst="rect">
            <a:avLst/>
          </a:prstGeom>
        </p:spPr>
        <p:txBody>
          <a:bodyPr anchor="t" rtlCol="false" tIns="0" lIns="0" bIns="0" rIns="0">
            <a:spAutoFit/>
          </a:bodyPr>
          <a:lstStyle/>
          <a:p>
            <a:pPr algn="l">
              <a:lnSpc>
                <a:spcPts val="7680"/>
              </a:lnSpc>
            </a:pPr>
            <a:r>
              <a:rPr lang="en-US" sz="9600">
                <a:solidFill>
                  <a:srgbClr val="3A3E61"/>
                </a:solidFill>
                <a:latin typeface="Extenda 90 Exa"/>
                <a:ea typeface="Extenda 90 Exa"/>
                <a:cs typeface="Extenda 90 Exa"/>
                <a:sym typeface="Extenda 90 Exa"/>
              </a:rPr>
              <a:t>What We’re About to Do.</a:t>
            </a:r>
          </a:p>
        </p:txBody>
      </p:sp>
      <p:sp>
        <p:nvSpPr>
          <p:cNvPr name="TextBox 30" id="30"/>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31" id="31"/>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06</a:t>
            </a:r>
          </a:p>
        </p:txBody>
      </p:sp>
      <p:sp>
        <p:nvSpPr>
          <p:cNvPr name="TextBox 32" id="32"/>
          <p:cNvSpPr txBox="true"/>
          <p:nvPr/>
        </p:nvSpPr>
        <p:spPr>
          <a:xfrm rot="0">
            <a:off x="6118849" y="4786109"/>
            <a:ext cx="10338880" cy="1656588"/>
          </a:xfrm>
          <a:prstGeom prst="rect">
            <a:avLst/>
          </a:prstGeom>
        </p:spPr>
        <p:txBody>
          <a:bodyPr anchor="t" rtlCol="false" tIns="0" lIns="0" bIns="0" rIns="0">
            <a:spAutoFit/>
          </a:bodyPr>
          <a:lstStyle/>
          <a:p>
            <a:pPr algn="just" marL="496569" indent="-248284" lvl="1">
              <a:lnSpc>
                <a:spcPts val="2690"/>
              </a:lnSpc>
              <a:buFont typeface="Arial"/>
              <a:buChar char="•"/>
            </a:pPr>
            <a:r>
              <a:rPr lang="en-US" sz="2299">
                <a:solidFill>
                  <a:srgbClr val="F1EDE2"/>
                </a:solidFill>
                <a:latin typeface="TT Fors"/>
                <a:ea typeface="TT Fors"/>
                <a:cs typeface="TT Fors"/>
                <a:sym typeface="TT Fors"/>
              </a:rPr>
              <a:t>C</a:t>
            </a:r>
            <a:r>
              <a:rPr lang="en-US" sz="2299">
                <a:solidFill>
                  <a:srgbClr val="F1EDE2"/>
                </a:solidFill>
                <a:latin typeface="TT Fors"/>
                <a:ea typeface="TT Fors"/>
                <a:cs typeface="TT Fors"/>
                <a:sym typeface="TT Fors"/>
              </a:rPr>
              <a:t>reate a new Flutter project</a:t>
            </a:r>
          </a:p>
          <a:p>
            <a:pPr algn="just" marL="496569" indent="-248284" lvl="1">
              <a:lnSpc>
                <a:spcPts val="2690"/>
              </a:lnSpc>
              <a:buFont typeface="Arial"/>
              <a:buChar char="•"/>
            </a:pPr>
            <a:r>
              <a:rPr lang="en-US" sz="2299">
                <a:solidFill>
                  <a:srgbClr val="F1EDE2"/>
                </a:solidFill>
                <a:latin typeface="TT Fors"/>
                <a:ea typeface="TT Fors"/>
                <a:cs typeface="TT Fors"/>
                <a:sym typeface="TT Fors"/>
              </a:rPr>
              <a:t>Run the default app</a:t>
            </a:r>
          </a:p>
          <a:p>
            <a:pPr algn="just" marL="496569" indent="-248284" lvl="1">
              <a:lnSpc>
                <a:spcPts val="2690"/>
              </a:lnSpc>
              <a:buFont typeface="Arial"/>
              <a:buChar char="•"/>
            </a:pPr>
            <a:r>
              <a:rPr lang="en-US" sz="2299">
                <a:solidFill>
                  <a:srgbClr val="F1EDE2"/>
                </a:solidFill>
                <a:latin typeface="TT Fors"/>
                <a:ea typeface="TT Fors"/>
                <a:cs typeface="TT Fors"/>
                <a:sym typeface="TT Fors"/>
              </a:rPr>
              <a:t>See Flutter working</a:t>
            </a:r>
          </a:p>
          <a:p>
            <a:pPr algn="just">
              <a:lnSpc>
                <a:spcPts val="2690"/>
              </a:lnSpc>
            </a:pPr>
          </a:p>
          <a:p>
            <a:pPr algn="just">
              <a:lnSpc>
                <a:spcPts val="269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grpSp>
        <p:nvGrpSpPr>
          <p:cNvPr name="Group 2" id="2"/>
          <p:cNvGrpSpPr/>
          <p:nvPr/>
        </p:nvGrpSpPr>
        <p:grpSpPr>
          <a:xfrm rot="0">
            <a:off x="-1614662" y="-235831"/>
            <a:ext cx="21517324" cy="10758662"/>
            <a:chOff x="0" y="0"/>
            <a:chExt cx="28689765" cy="14344882"/>
          </a:xfrm>
        </p:grpSpPr>
        <p:sp>
          <p:nvSpPr>
            <p:cNvPr name="Freeform 3" id="3"/>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grpSp>
      <p:grpSp>
        <p:nvGrpSpPr>
          <p:cNvPr name="Group 11" id="11"/>
          <p:cNvGrpSpPr/>
          <p:nvPr/>
        </p:nvGrpSpPr>
        <p:grpSpPr>
          <a:xfrm rot="0">
            <a:off x="15066413" y="683012"/>
            <a:ext cx="2065807" cy="749445"/>
            <a:chOff x="0" y="0"/>
            <a:chExt cx="1120221" cy="406400"/>
          </a:xfrm>
        </p:grpSpPr>
        <p:sp>
          <p:nvSpPr>
            <p:cNvPr name="Freeform 12" id="12"/>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3" id="13"/>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7763868" y="5757391"/>
            <a:ext cx="9495432" cy="3251998"/>
            <a:chOff x="0" y="0"/>
            <a:chExt cx="1471091" cy="503820"/>
          </a:xfrm>
        </p:grpSpPr>
        <p:sp>
          <p:nvSpPr>
            <p:cNvPr name="Freeform 15" id="15"/>
            <p:cNvSpPr/>
            <p:nvPr/>
          </p:nvSpPr>
          <p:spPr>
            <a:xfrm flipH="false" flipV="false" rot="0">
              <a:off x="0" y="0"/>
              <a:ext cx="1471091" cy="503820"/>
            </a:xfrm>
            <a:custGeom>
              <a:avLst/>
              <a:gdLst/>
              <a:ahLst/>
              <a:cxnLst/>
              <a:rect r="r" b="b" t="t" l="l"/>
              <a:pathLst>
                <a:path h="503820" w="1471091">
                  <a:moveTo>
                    <a:pt x="18753" y="0"/>
                  </a:moveTo>
                  <a:lnTo>
                    <a:pt x="1452338" y="0"/>
                  </a:lnTo>
                  <a:cubicBezTo>
                    <a:pt x="1462695" y="0"/>
                    <a:pt x="1471091" y="8396"/>
                    <a:pt x="1471091" y="18753"/>
                  </a:cubicBezTo>
                  <a:lnTo>
                    <a:pt x="1471091" y="485067"/>
                  </a:lnTo>
                  <a:cubicBezTo>
                    <a:pt x="1471091" y="495424"/>
                    <a:pt x="1462695" y="503820"/>
                    <a:pt x="1452338" y="503820"/>
                  </a:cubicBezTo>
                  <a:lnTo>
                    <a:pt x="18753" y="503820"/>
                  </a:lnTo>
                  <a:cubicBezTo>
                    <a:pt x="13779" y="503820"/>
                    <a:pt x="9009" y="501844"/>
                    <a:pt x="5493" y="498327"/>
                  </a:cubicBezTo>
                  <a:cubicBezTo>
                    <a:pt x="1976" y="494810"/>
                    <a:pt x="0" y="490041"/>
                    <a:pt x="0" y="485067"/>
                  </a:cubicBezTo>
                  <a:lnTo>
                    <a:pt x="0" y="18753"/>
                  </a:lnTo>
                  <a:cubicBezTo>
                    <a:pt x="0" y="8396"/>
                    <a:pt x="8396" y="0"/>
                    <a:pt x="18753" y="0"/>
                  </a:cubicBezTo>
                  <a:close/>
                </a:path>
              </a:pathLst>
            </a:custGeom>
            <a:blipFill>
              <a:blip r:embed="rId4"/>
              <a:stretch>
                <a:fillRect l="-4578" t="0" r="-4578" b="0"/>
              </a:stretch>
            </a:blipFill>
          </p:spPr>
        </p:sp>
      </p:grpSp>
      <p:grpSp>
        <p:nvGrpSpPr>
          <p:cNvPr name="Group 16" id="16"/>
          <p:cNvGrpSpPr/>
          <p:nvPr/>
        </p:nvGrpSpPr>
        <p:grpSpPr>
          <a:xfrm rot="0">
            <a:off x="1028700" y="1767512"/>
            <a:ext cx="5965746" cy="3602958"/>
            <a:chOff x="0" y="0"/>
            <a:chExt cx="924250" cy="558193"/>
          </a:xfrm>
        </p:grpSpPr>
        <p:sp>
          <p:nvSpPr>
            <p:cNvPr name="Freeform 17" id="17"/>
            <p:cNvSpPr/>
            <p:nvPr/>
          </p:nvSpPr>
          <p:spPr>
            <a:xfrm flipH="false" flipV="false" rot="0">
              <a:off x="0" y="0"/>
              <a:ext cx="924250" cy="558193"/>
            </a:xfrm>
            <a:custGeom>
              <a:avLst/>
              <a:gdLst/>
              <a:ahLst/>
              <a:cxnLst/>
              <a:rect r="r" b="b" t="t" l="l"/>
              <a:pathLst>
                <a:path h="558193" w="924250">
                  <a:moveTo>
                    <a:pt x="29848" y="0"/>
                  </a:moveTo>
                  <a:lnTo>
                    <a:pt x="894402" y="0"/>
                  </a:lnTo>
                  <a:cubicBezTo>
                    <a:pt x="902319" y="0"/>
                    <a:pt x="909910" y="3145"/>
                    <a:pt x="915508" y="8742"/>
                  </a:cubicBezTo>
                  <a:cubicBezTo>
                    <a:pt x="921106" y="14340"/>
                    <a:pt x="924250" y="21932"/>
                    <a:pt x="924250" y="29848"/>
                  </a:cubicBezTo>
                  <a:lnTo>
                    <a:pt x="924250" y="528345"/>
                  </a:lnTo>
                  <a:cubicBezTo>
                    <a:pt x="924250" y="544829"/>
                    <a:pt x="910887" y="558193"/>
                    <a:pt x="894402" y="558193"/>
                  </a:cubicBezTo>
                  <a:lnTo>
                    <a:pt x="29848" y="558193"/>
                  </a:lnTo>
                  <a:cubicBezTo>
                    <a:pt x="21932" y="558193"/>
                    <a:pt x="14340" y="555048"/>
                    <a:pt x="8742" y="549450"/>
                  </a:cubicBezTo>
                  <a:cubicBezTo>
                    <a:pt x="3145" y="543853"/>
                    <a:pt x="0" y="536261"/>
                    <a:pt x="0" y="528345"/>
                  </a:cubicBezTo>
                  <a:lnTo>
                    <a:pt x="0" y="29848"/>
                  </a:lnTo>
                  <a:cubicBezTo>
                    <a:pt x="0" y="21932"/>
                    <a:pt x="3145" y="14340"/>
                    <a:pt x="8742" y="8742"/>
                  </a:cubicBezTo>
                  <a:cubicBezTo>
                    <a:pt x="14340" y="3145"/>
                    <a:pt x="21932" y="0"/>
                    <a:pt x="29848" y="0"/>
                  </a:cubicBezTo>
                  <a:close/>
                </a:path>
              </a:pathLst>
            </a:custGeom>
            <a:blipFill>
              <a:blip r:embed="rId5"/>
              <a:stretch>
                <a:fillRect l="0" t="-8159" r="0" b="-8159"/>
              </a:stretch>
            </a:blipFill>
          </p:spPr>
        </p:sp>
      </p:grpSp>
      <p:sp>
        <p:nvSpPr>
          <p:cNvPr name="TextBox 18" id="18"/>
          <p:cNvSpPr txBox="true"/>
          <p:nvPr/>
        </p:nvSpPr>
        <p:spPr>
          <a:xfrm rot="0">
            <a:off x="7763868" y="1737169"/>
            <a:ext cx="9495432" cy="2059305"/>
          </a:xfrm>
          <a:prstGeom prst="rect">
            <a:avLst/>
          </a:prstGeom>
        </p:spPr>
        <p:txBody>
          <a:bodyPr anchor="t" rtlCol="false" tIns="0" lIns="0" bIns="0" rIns="0">
            <a:spAutoFit/>
          </a:bodyPr>
          <a:lstStyle/>
          <a:p>
            <a:pPr algn="l">
              <a:lnSpc>
                <a:spcPts val="7680"/>
              </a:lnSpc>
            </a:pPr>
            <a:r>
              <a:rPr lang="en-US" sz="9600">
                <a:solidFill>
                  <a:srgbClr val="3A3E61"/>
                </a:solidFill>
                <a:latin typeface="Extenda 90 Exa"/>
                <a:ea typeface="Extenda 90 Exa"/>
                <a:cs typeface="Extenda 90 Exa"/>
                <a:sym typeface="Extenda 90 Exa"/>
              </a:rPr>
              <a:t>Everything Is a Widget 🤯</a:t>
            </a:r>
          </a:p>
        </p:txBody>
      </p:sp>
      <p:grpSp>
        <p:nvGrpSpPr>
          <p:cNvPr name="Group 19" id="19"/>
          <p:cNvGrpSpPr/>
          <p:nvPr/>
        </p:nvGrpSpPr>
        <p:grpSpPr>
          <a:xfrm rot="0">
            <a:off x="16543936" y="646641"/>
            <a:ext cx="822187" cy="82218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6212730" y="6379250"/>
            <a:ext cx="1838981" cy="1765422"/>
          </a:xfrm>
          <a:custGeom>
            <a:avLst/>
            <a:gdLst/>
            <a:ahLst/>
            <a:cxnLst/>
            <a:rect r="r" b="b" t="t" l="l"/>
            <a:pathLst>
              <a:path h="1765422" w="1838981">
                <a:moveTo>
                  <a:pt x="0" y="0"/>
                </a:moveTo>
                <a:lnTo>
                  <a:pt x="1838981" y="0"/>
                </a:lnTo>
                <a:lnTo>
                  <a:pt x="1838981" y="1765421"/>
                </a:lnTo>
                <a:lnTo>
                  <a:pt x="0" y="17654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367251" y="2981318"/>
            <a:ext cx="1322898" cy="1418312"/>
          </a:xfrm>
          <a:custGeom>
            <a:avLst/>
            <a:gdLst/>
            <a:ahLst/>
            <a:cxnLst/>
            <a:rect r="r" b="b" t="t" l="l"/>
            <a:pathLst>
              <a:path h="1418312" w="1322898">
                <a:moveTo>
                  <a:pt x="0" y="0"/>
                </a:moveTo>
                <a:lnTo>
                  <a:pt x="1322898" y="0"/>
                </a:lnTo>
                <a:lnTo>
                  <a:pt x="1322898" y="1418312"/>
                </a:lnTo>
                <a:lnTo>
                  <a:pt x="0" y="14183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4" id="24"/>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sp>
        <p:nvSpPr>
          <p:cNvPr name="TextBox 25" id="25"/>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07</a:t>
            </a:r>
          </a:p>
        </p:txBody>
      </p:sp>
      <p:sp>
        <p:nvSpPr>
          <p:cNvPr name="TextBox 26" id="26"/>
          <p:cNvSpPr txBox="true"/>
          <p:nvPr/>
        </p:nvSpPr>
        <p:spPr>
          <a:xfrm rot="0">
            <a:off x="7763868" y="3793908"/>
            <a:ext cx="9495432" cy="1849183"/>
          </a:xfrm>
          <a:prstGeom prst="rect">
            <a:avLst/>
          </a:prstGeom>
        </p:spPr>
        <p:txBody>
          <a:bodyPr anchor="t" rtlCol="false" tIns="0" lIns="0" bIns="0" rIns="0">
            <a:spAutoFit/>
          </a:bodyPr>
          <a:lstStyle/>
          <a:p>
            <a:pPr algn="just">
              <a:lnSpc>
                <a:spcPts val="3977"/>
              </a:lnSpc>
            </a:pPr>
            <a:r>
              <a:rPr lang="en-US" sz="3399">
                <a:solidFill>
                  <a:srgbClr val="3A3E61"/>
                </a:solidFill>
                <a:latin typeface="Extenda 90 Exa"/>
                <a:ea typeface="Extenda 90 Exa"/>
                <a:cs typeface="Extenda 90 Exa"/>
                <a:sym typeface="Extenda 90 Exa"/>
              </a:rPr>
              <a:t>What is a Widget?</a:t>
            </a:r>
          </a:p>
          <a:p>
            <a:pPr algn="just" marL="496569" indent="-248284" lvl="1">
              <a:lnSpc>
                <a:spcPts val="2690"/>
              </a:lnSpc>
              <a:buFont typeface="Arial"/>
              <a:buChar char="•"/>
            </a:pPr>
            <a:r>
              <a:rPr lang="en-US" sz="2299">
                <a:solidFill>
                  <a:srgbClr val="3A3E61"/>
                </a:solidFill>
                <a:latin typeface="TT Fors"/>
                <a:ea typeface="TT Fors"/>
                <a:cs typeface="TT Fors"/>
                <a:sym typeface="TT Fors"/>
              </a:rPr>
              <a:t>Building block of Flutter UI</a:t>
            </a:r>
          </a:p>
          <a:p>
            <a:pPr algn="just" marL="496569" indent="-248284" lvl="1">
              <a:lnSpc>
                <a:spcPts val="2690"/>
              </a:lnSpc>
              <a:buFont typeface="Arial"/>
              <a:buChar char="•"/>
            </a:pPr>
            <a:r>
              <a:rPr lang="en-US" sz="2299">
                <a:solidFill>
                  <a:srgbClr val="3A3E61"/>
                </a:solidFill>
                <a:latin typeface="TT Fors"/>
                <a:ea typeface="TT Fors"/>
                <a:cs typeface="TT Fors"/>
                <a:sym typeface="TT Fors"/>
              </a:rPr>
              <a:t>Describes what appears on the screen</a:t>
            </a:r>
          </a:p>
          <a:p>
            <a:pPr algn="just" marL="496569" indent="-248284" lvl="1">
              <a:lnSpc>
                <a:spcPts val="2690"/>
              </a:lnSpc>
              <a:buFont typeface="Arial"/>
              <a:buChar char="•"/>
            </a:pPr>
            <a:r>
              <a:rPr lang="en-US" sz="2299">
                <a:solidFill>
                  <a:srgbClr val="3A3E61"/>
                </a:solidFill>
                <a:latin typeface="TT Fors"/>
                <a:ea typeface="TT Fors"/>
                <a:cs typeface="TT Fors"/>
                <a:sym typeface="TT Fors"/>
              </a:rPr>
              <a:t>Combined to create layouts</a:t>
            </a:r>
          </a:p>
          <a:p>
            <a:pPr algn="just">
              <a:lnSpc>
                <a:spcPts val="2690"/>
              </a:lnSpc>
            </a:pPr>
          </a:p>
        </p:txBody>
      </p:sp>
      <p:sp>
        <p:nvSpPr>
          <p:cNvPr name="TextBox 27" id="27"/>
          <p:cNvSpPr txBox="true"/>
          <p:nvPr/>
        </p:nvSpPr>
        <p:spPr>
          <a:xfrm rot="0">
            <a:off x="1028700" y="6048970"/>
            <a:ext cx="6328317" cy="2668840"/>
          </a:xfrm>
          <a:prstGeom prst="rect">
            <a:avLst/>
          </a:prstGeom>
        </p:spPr>
        <p:txBody>
          <a:bodyPr anchor="t" rtlCol="false" tIns="0" lIns="0" bIns="0" rIns="0">
            <a:spAutoFit/>
          </a:bodyPr>
          <a:lstStyle/>
          <a:p>
            <a:pPr algn="just">
              <a:lnSpc>
                <a:spcPts val="4219"/>
              </a:lnSpc>
            </a:pPr>
            <a:r>
              <a:rPr lang="en-US" sz="3606">
                <a:solidFill>
                  <a:srgbClr val="3A3E61"/>
                </a:solidFill>
                <a:latin typeface="Extenda 90 Exa"/>
                <a:ea typeface="Extenda 90 Exa"/>
                <a:cs typeface="Extenda 90 Exa"/>
                <a:sym typeface="Extenda 90 Exa"/>
              </a:rPr>
              <a:t>Two Types of Widgets</a:t>
            </a:r>
          </a:p>
          <a:p>
            <a:pPr algn="just" marL="526748" indent="-263374" lvl="1">
              <a:lnSpc>
                <a:spcPts val="2854"/>
              </a:lnSpc>
              <a:buFont typeface="Arial"/>
              <a:buChar char="•"/>
            </a:pPr>
            <a:r>
              <a:rPr lang="en-US" sz="2439">
                <a:solidFill>
                  <a:srgbClr val="3A3E61"/>
                </a:solidFill>
                <a:latin typeface="TT Fors"/>
                <a:ea typeface="TT Fors"/>
                <a:cs typeface="TT Fors"/>
                <a:sym typeface="TT Fors"/>
              </a:rPr>
              <a:t>Stateless Widget → UI does not change</a:t>
            </a:r>
          </a:p>
          <a:p>
            <a:pPr algn="just" marL="526748" indent="-263374" lvl="1">
              <a:lnSpc>
                <a:spcPts val="2854"/>
              </a:lnSpc>
              <a:buFont typeface="Arial"/>
              <a:buChar char="•"/>
            </a:pPr>
            <a:r>
              <a:rPr lang="en-US" sz="2439">
                <a:solidFill>
                  <a:srgbClr val="3A3E61"/>
                </a:solidFill>
                <a:latin typeface="TT Fors"/>
                <a:ea typeface="TT Fors"/>
                <a:cs typeface="TT Fors"/>
                <a:sym typeface="TT Fors"/>
              </a:rPr>
              <a:t>Stateful Widget → UI can change</a:t>
            </a:r>
          </a:p>
          <a:p>
            <a:pPr algn="just">
              <a:lnSpc>
                <a:spcPts val="2854"/>
              </a:lnSpc>
            </a:pPr>
            <a:r>
              <a:rPr lang="en-US" sz="2439">
                <a:solidFill>
                  <a:srgbClr val="3A3E61"/>
                </a:solidFill>
                <a:latin typeface="TT Fors"/>
                <a:ea typeface="TT Fors"/>
                <a:cs typeface="TT Fors"/>
                <a:sym typeface="TT Fors"/>
              </a:rPr>
              <a:t>Example:</a:t>
            </a:r>
          </a:p>
          <a:p>
            <a:pPr algn="just">
              <a:lnSpc>
                <a:spcPts val="2854"/>
              </a:lnSpc>
            </a:pPr>
            <a:r>
              <a:rPr lang="en-US" sz="2439">
                <a:solidFill>
                  <a:srgbClr val="3A3E61"/>
                </a:solidFill>
                <a:latin typeface="TT Fors"/>
                <a:ea typeface="TT Fors"/>
                <a:cs typeface="TT Fors"/>
                <a:sym typeface="TT Fors"/>
              </a:rPr>
              <a:t> Text → Stateless</a:t>
            </a:r>
          </a:p>
          <a:p>
            <a:pPr algn="just">
              <a:lnSpc>
                <a:spcPts val="2854"/>
              </a:lnSpc>
            </a:pPr>
            <a:r>
              <a:rPr lang="en-US" sz="2439">
                <a:solidFill>
                  <a:srgbClr val="3A3E61"/>
                </a:solidFill>
                <a:latin typeface="TT Fors"/>
                <a:ea typeface="TT Fors"/>
                <a:cs typeface="TT Fors"/>
                <a:sym typeface="TT Fors"/>
              </a:rPr>
              <a:t> Counter → Stateful</a:t>
            </a:r>
          </a:p>
          <a:p>
            <a:pPr algn="just">
              <a:lnSpc>
                <a:spcPts val="285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EDE2"/>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683555" y="-565425"/>
            <a:ext cx="4627956" cy="3862240"/>
          </a:xfrm>
          <a:custGeom>
            <a:avLst/>
            <a:gdLst/>
            <a:ahLst/>
            <a:cxnLst/>
            <a:rect r="r" b="b" t="t" l="l"/>
            <a:pathLst>
              <a:path h="3862240" w="4627956">
                <a:moveTo>
                  <a:pt x="0" y="0"/>
                </a:moveTo>
                <a:lnTo>
                  <a:pt x="4627956" y="0"/>
                </a:lnTo>
                <a:lnTo>
                  <a:pt x="4627956" y="3862239"/>
                </a:lnTo>
                <a:lnTo>
                  <a:pt x="0" y="386223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48071" y="-235831"/>
            <a:ext cx="21517324" cy="10758662"/>
            <a:chOff x="0" y="0"/>
            <a:chExt cx="28689765" cy="14344882"/>
          </a:xfrm>
        </p:grpSpPr>
        <p:sp>
          <p:nvSpPr>
            <p:cNvPr name="Freeform 4" id="4"/>
            <p:cNvSpPr/>
            <p:nvPr/>
          </p:nvSpPr>
          <p:spPr>
            <a:xfrm flipH="false" flipV="false" rot="0">
              <a:off x="0"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72441"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172441"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4344882" y="0"/>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4344882" y="7172441"/>
              <a:ext cx="7172441" cy="7172441"/>
            </a:xfrm>
            <a:custGeom>
              <a:avLst/>
              <a:gdLst/>
              <a:ahLst/>
              <a:cxnLst/>
              <a:rect r="r" b="b" t="t" l="l"/>
              <a:pathLst>
                <a:path h="7172441" w="7172441">
                  <a:moveTo>
                    <a:pt x="0" y="0"/>
                  </a:moveTo>
                  <a:lnTo>
                    <a:pt x="7172442" y="0"/>
                  </a:lnTo>
                  <a:lnTo>
                    <a:pt x="7172442"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1517324" y="0"/>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1517324" y="7172441"/>
              <a:ext cx="7172441" cy="7172441"/>
            </a:xfrm>
            <a:custGeom>
              <a:avLst/>
              <a:gdLst/>
              <a:ahLst/>
              <a:cxnLst/>
              <a:rect r="r" b="b" t="t" l="l"/>
              <a:pathLst>
                <a:path h="7172441" w="7172441">
                  <a:moveTo>
                    <a:pt x="0" y="0"/>
                  </a:moveTo>
                  <a:lnTo>
                    <a:pt x="7172441" y="0"/>
                  </a:lnTo>
                  <a:lnTo>
                    <a:pt x="7172441" y="7172441"/>
                  </a:lnTo>
                  <a:lnTo>
                    <a:pt x="0" y="7172441"/>
                  </a:lnTo>
                  <a:lnTo>
                    <a:pt x="0" y="0"/>
                  </a:lnTo>
                  <a:close/>
                </a:path>
              </a:pathLst>
            </a:custGeom>
            <a:blipFill>
              <a:blip r:embed="rId4">
                <a:alphaModFix amt="9999"/>
                <a:extLst>
                  <a:ext uri="{96DAC541-7B7A-43D3-8B79-37D633B846F1}">
                    <asvg:svgBlip xmlns:asvg="http://schemas.microsoft.com/office/drawing/2016/SVG/main" r:embed="rId5"/>
                  </a:ext>
                </a:extLst>
              </a:blip>
              <a:stretch>
                <a:fillRect l="0" t="0" r="0" b="0"/>
              </a:stretch>
            </a:blipFill>
          </p:spPr>
        </p:sp>
      </p:grpSp>
      <p:grpSp>
        <p:nvGrpSpPr>
          <p:cNvPr name="Group 12" id="12"/>
          <p:cNvGrpSpPr/>
          <p:nvPr/>
        </p:nvGrpSpPr>
        <p:grpSpPr>
          <a:xfrm rot="0">
            <a:off x="15066413" y="683012"/>
            <a:ext cx="2065807" cy="749445"/>
            <a:chOff x="0" y="0"/>
            <a:chExt cx="1120221" cy="406400"/>
          </a:xfrm>
        </p:grpSpPr>
        <p:sp>
          <p:nvSpPr>
            <p:cNvPr name="Freeform 13" id="13"/>
            <p:cNvSpPr/>
            <p:nvPr/>
          </p:nvSpPr>
          <p:spPr>
            <a:xfrm flipH="false" flipV="false" rot="0">
              <a:off x="0" y="0"/>
              <a:ext cx="1120221" cy="406400"/>
            </a:xfrm>
            <a:custGeom>
              <a:avLst/>
              <a:gdLst/>
              <a:ahLst/>
              <a:cxnLst/>
              <a:rect r="r" b="b" t="t" l="l"/>
              <a:pathLst>
                <a:path h="406400" w="1120221">
                  <a:moveTo>
                    <a:pt x="917021" y="0"/>
                  </a:moveTo>
                  <a:cubicBezTo>
                    <a:pt x="1029246" y="0"/>
                    <a:pt x="1120221" y="90976"/>
                    <a:pt x="1120221" y="203200"/>
                  </a:cubicBezTo>
                  <a:cubicBezTo>
                    <a:pt x="1120221" y="315424"/>
                    <a:pt x="1029246" y="406400"/>
                    <a:pt x="917021" y="406400"/>
                  </a:cubicBezTo>
                  <a:lnTo>
                    <a:pt x="203200" y="406400"/>
                  </a:lnTo>
                  <a:cubicBezTo>
                    <a:pt x="90976" y="406400"/>
                    <a:pt x="0" y="315424"/>
                    <a:pt x="0" y="203200"/>
                  </a:cubicBezTo>
                  <a:cubicBezTo>
                    <a:pt x="0" y="90976"/>
                    <a:pt x="90976" y="0"/>
                    <a:pt x="203200" y="0"/>
                  </a:cubicBezTo>
                  <a:close/>
                </a:path>
              </a:pathLst>
            </a:custGeom>
            <a:solidFill>
              <a:srgbClr val="343434"/>
            </a:solidFill>
          </p:spPr>
        </p:sp>
        <p:sp>
          <p:nvSpPr>
            <p:cNvPr name="TextBox 14" id="14"/>
            <p:cNvSpPr txBox="true"/>
            <p:nvPr/>
          </p:nvSpPr>
          <p:spPr>
            <a:xfrm>
              <a:off x="0" y="-38100"/>
              <a:ext cx="1120221" cy="444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3803341" y="4682527"/>
            <a:ext cx="11214498" cy="1379145"/>
          </a:xfrm>
          <a:prstGeom prst="rect">
            <a:avLst/>
          </a:prstGeom>
        </p:spPr>
        <p:txBody>
          <a:bodyPr anchor="t" rtlCol="false" tIns="0" lIns="0" bIns="0" rIns="0">
            <a:spAutoFit/>
          </a:bodyPr>
          <a:lstStyle/>
          <a:p>
            <a:pPr algn="l">
              <a:lnSpc>
                <a:spcPts val="9664"/>
              </a:lnSpc>
            </a:pPr>
            <a:r>
              <a:rPr lang="en-US" sz="12080">
                <a:solidFill>
                  <a:srgbClr val="3A3E61"/>
                </a:solidFill>
                <a:latin typeface="Extenda 90 Exa"/>
                <a:ea typeface="Extenda 90 Exa"/>
                <a:cs typeface="Extenda 90 Exa"/>
                <a:sym typeface="Extenda 90 Exa"/>
              </a:rPr>
              <a:t>Thank You.😁</a:t>
            </a:r>
          </a:p>
        </p:txBody>
      </p:sp>
      <p:sp>
        <p:nvSpPr>
          <p:cNvPr name="TextBox 16" id="16"/>
          <p:cNvSpPr txBox="true"/>
          <p:nvPr/>
        </p:nvSpPr>
        <p:spPr>
          <a:xfrm rot="0">
            <a:off x="15425164" y="837629"/>
            <a:ext cx="1094217" cy="410718"/>
          </a:xfrm>
          <a:prstGeom prst="rect">
            <a:avLst/>
          </a:prstGeom>
        </p:spPr>
        <p:txBody>
          <a:bodyPr anchor="t" rtlCol="false" tIns="0" lIns="0" bIns="0" rIns="0">
            <a:spAutoFit/>
          </a:bodyPr>
          <a:lstStyle/>
          <a:p>
            <a:pPr algn="l">
              <a:lnSpc>
                <a:spcPts val="3275"/>
              </a:lnSpc>
            </a:pPr>
            <a:r>
              <a:rPr lang="en-US" sz="2799" b="true">
                <a:solidFill>
                  <a:srgbClr val="FFFFFF"/>
                </a:solidFill>
                <a:latin typeface="TT Fors Bold"/>
                <a:ea typeface="TT Fors Bold"/>
                <a:cs typeface="TT Fors Bold"/>
                <a:sym typeface="TT Fors Bold"/>
              </a:rPr>
              <a:t>Page</a:t>
            </a:r>
          </a:p>
        </p:txBody>
      </p:sp>
      <p:grpSp>
        <p:nvGrpSpPr>
          <p:cNvPr name="Group 17" id="17"/>
          <p:cNvGrpSpPr/>
          <p:nvPr/>
        </p:nvGrpSpPr>
        <p:grpSpPr>
          <a:xfrm rot="0">
            <a:off x="16543936" y="646641"/>
            <a:ext cx="822187" cy="822187"/>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3E61"/>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16572511" y="818579"/>
            <a:ext cx="749445" cy="547116"/>
          </a:xfrm>
          <a:prstGeom prst="rect">
            <a:avLst/>
          </a:prstGeom>
        </p:spPr>
        <p:txBody>
          <a:bodyPr anchor="t" rtlCol="false" tIns="0" lIns="0" bIns="0" rIns="0">
            <a:spAutoFit/>
          </a:bodyPr>
          <a:lstStyle/>
          <a:p>
            <a:pPr algn="ctr">
              <a:lnSpc>
                <a:spcPts val="4211"/>
              </a:lnSpc>
            </a:pPr>
            <a:r>
              <a:rPr lang="en-US" sz="3599">
                <a:solidFill>
                  <a:srgbClr val="FFFFFF"/>
                </a:solidFill>
                <a:latin typeface="Extenda 90 Exa"/>
                <a:ea typeface="Extenda 90 Exa"/>
                <a:cs typeface="Extenda 90 Exa"/>
                <a:sym typeface="Extenda 90 Exa"/>
              </a:rPr>
              <a:t>08</a:t>
            </a:r>
          </a:p>
        </p:txBody>
      </p:sp>
      <p:sp>
        <p:nvSpPr>
          <p:cNvPr name="Freeform 21" id="21"/>
          <p:cNvSpPr/>
          <p:nvPr/>
        </p:nvSpPr>
        <p:spPr>
          <a:xfrm flipH="false" flipV="false" rot="0">
            <a:off x="1313617" y="646641"/>
            <a:ext cx="3292406" cy="3196627"/>
          </a:xfrm>
          <a:custGeom>
            <a:avLst/>
            <a:gdLst/>
            <a:ahLst/>
            <a:cxnLst/>
            <a:rect r="r" b="b" t="t" l="l"/>
            <a:pathLst>
              <a:path h="3196627" w="3292406">
                <a:moveTo>
                  <a:pt x="0" y="0"/>
                </a:moveTo>
                <a:lnTo>
                  <a:pt x="3292406" y="0"/>
                </a:lnTo>
                <a:lnTo>
                  <a:pt x="3292406" y="3196627"/>
                </a:lnTo>
                <a:lnTo>
                  <a:pt x="0" y="31966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5400000">
            <a:off x="-1285278" y="8355880"/>
            <a:ext cx="4627956" cy="3862240"/>
          </a:xfrm>
          <a:custGeom>
            <a:avLst/>
            <a:gdLst/>
            <a:ahLst/>
            <a:cxnLst/>
            <a:rect r="r" b="b" t="t" l="l"/>
            <a:pathLst>
              <a:path h="3862240" w="4627956">
                <a:moveTo>
                  <a:pt x="0" y="0"/>
                </a:moveTo>
                <a:lnTo>
                  <a:pt x="4627956" y="0"/>
                </a:lnTo>
                <a:lnTo>
                  <a:pt x="4627956" y="3862240"/>
                </a:lnTo>
                <a:lnTo>
                  <a:pt x="0" y="3862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5400000">
            <a:off x="15477383" y="8908769"/>
            <a:ext cx="4501274" cy="3756517"/>
          </a:xfrm>
          <a:custGeom>
            <a:avLst/>
            <a:gdLst/>
            <a:ahLst/>
            <a:cxnLst/>
            <a:rect r="r" b="b" t="t" l="l"/>
            <a:pathLst>
              <a:path h="3756517" w="4501274">
                <a:moveTo>
                  <a:pt x="0" y="0"/>
                </a:moveTo>
                <a:lnTo>
                  <a:pt x="4501273" y="0"/>
                </a:lnTo>
                <a:lnTo>
                  <a:pt x="4501273" y="3756518"/>
                </a:lnTo>
                <a:lnTo>
                  <a:pt x="0" y="37565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DAHAw2ZWubU</dc:identifier>
  <dcterms:modified xsi:type="dcterms:W3CDTF">2011-08-01T06:04:30Z</dcterms:modified>
  <cp:revision>1</cp:revision>
  <dc:title>Intro To Flutter </dc:title>
</cp:coreProperties>
</file>